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embeddedFontLst>
    <p:embeddedFont>
      <p:font typeface="Google Sans"/>
      <p:regular r:id="rId16"/>
      <p:bold r:id="rId17"/>
      <p:italic r:id="rId18"/>
      <p:bold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253204-26E5-4943-8AAC-259EDA77DE5E}">
  <a:tblStyle styleId="{E4253204-26E5-4943-8AAC-259EDA77DE5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GoogleSans-bold.fntdata"/><Relationship Id="rId16" Type="http://schemas.openxmlformats.org/officeDocument/2006/relationships/font" Target="fonts/GoogleSans-regular.fntdata"/><Relationship Id="rId5" Type="http://schemas.openxmlformats.org/officeDocument/2006/relationships/notesMaster" Target="notesMasters/notesMaster1.xml"/><Relationship Id="rId19" Type="http://schemas.openxmlformats.org/officeDocument/2006/relationships/font" Target="fonts/GoogleSans-boldItalic.fntdata"/><Relationship Id="rId6" Type="http://schemas.openxmlformats.org/officeDocument/2006/relationships/slide" Target="slides/slide1.xml"/><Relationship Id="rId18" Type="http://schemas.openxmlformats.org/officeDocument/2006/relationships/font" Target="fonts/Google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I’m Jordan Bayles, on the Chrome team at Google. This is a draft proposal I’d like the Audio CG’s feedback on: a small API that lets a web page join the shared musical timeline that DAWs, DJ software and hardware already share on a local network. About ten minutes, with a live demo in the middle. Everything is public: the link at the bottom right has the demos, the spec, and the issues.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browser this is a solved problem. Link is everywhere: DAWs, DJ software, grooveboxes, phone apps. You turn it on and everything plays in time, with no master and no configuration. A web page can’t take part, because joining means sending and receiving UDP multicast on the local network, and we don’t give pages that, for good reasons. So a web instrument always plays alone.</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motivating case is education. Ableton’s Learning Music and Learning Synths sites teach in the browser; a lesson that plays in time with your own Live set turns an exercise into playing along, and it has to work with nothing installed. Live coding is the second community, with a documented need: Strudel’s Link request dates from 2023, with two closed attempts. Then the phone in the room, and web DAWs and instruments.</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question is always “why can’t this be an extension or a helper app?” So we built that. Its timing error is about a tenth of a millisecond: the clock-offset estimate has a best round trip of 0.3 ms. Timing isn’t the problem. Reach is: it needs a native install and a broadly-permissioned extension, and it can’t run on Android, ChromeOS or iOS, which are exactly the learners and phones this is for. The same answer covers Direct Sockets: only in Isolated Web Apps.</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API fits on a slide. requestSession asks for permission once and joins. captureState gives you a snapshot of the timeline; pass your AudioContext and every time in it is in that clock, so you schedule with Web Audio as usual. To change something, edit the snapshot and commit it. The browser does the networking and clock sync; the page never touches the network.</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choices worth calling out. The spec doesn’t name a protocol; Link lives in the explainer. Pages learn one bit about the network. Beat numbering is per page, as in Link, so a page starting its loop never moves anyone else’s bar lines. Snapshots avoid torn reads and can be posted to a worklet. And the browser is one participant however many tabs are open, so other devices can’t count your tabs.</a:t>
            </a:r>
            <a:endParaRPr/>
          </a:p>
        </p:txBody>
      </p:sp>
      <p:sp>
        <p:nvSpPr>
          <p:cNvPr id="134" name="Google Shape;13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to the browser now. Follow the demo script (DEMO-SCRIPT.md in the demo repo). If the live demo fails, play the backup recording.</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things are. The spec is a Bikeshed draft with an explainer, the security and privacy questionnaire, and a document of the objections we expect with our answers. There’s a Chromium prototype, now at v0.2, an extension for stable Chrome, a clean-room Rust implementation of Link, and the demo site. All of it is public.</a:t>
            </a:r>
            <a:endParaRPr/>
          </a:p>
        </p:txBody>
      </p:sp>
      <p:sp>
        <p:nvSpPr>
          <p:cNvPr id="170" name="Google Shape;1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open questions, each filed as an issue on the spec repo. The first is the one I most need this group for: the proposal needs more than one stakeholder saying in public that they want it. The rest are design questions where the group’s experience with Web Audio and Web MIDI would help, especially timing and Workers.</a:t>
            </a:r>
            <a:endParaRP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asks. First, is this in scope for the Audio CG, and would the group take it on as a work item? Second, if you or your project would use this, please say so on issue number one; that’s the known blocker. Third, the open questions are all issues; comments and bug reports from the demo are very welcome. Thanks, and questions.</a:t>
            </a:r>
            <a:endParaRPr/>
          </a:p>
        </p:txBody>
      </p:sp>
      <p:sp>
        <p:nvSpPr>
          <p:cNvPr id="225" name="Google Shape;22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baylesj.github.io/web-tempo-sync-dem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baylesj.github.io/web-tempo-sync-demo/#sampler" TargetMode="External"/><Relationship Id="rId4" Type="http://schemas.openxmlformats.org/officeDocument/2006/relationships/hyperlink" Target="https://baylesj.github.io/web-tempo-sync-demo/#strudel" TargetMode="External"/><Relationship Id="rId5" Type="http://schemas.openxmlformats.org/officeDocument/2006/relationships/hyperlink" Target="https://baylesj.github.io/web-tempo-sync-demo/#hydra" TargetMode="External"/><Relationship Id="rId6" Type="http://schemas.openxmlformats.org/officeDocument/2006/relationships/hyperlink" Target="https://baylesj.github.io/web-tempo-sync-demo/#tone" TargetMode="External"/><Relationship Id="rId7" Type="http://schemas.openxmlformats.org/officeDocument/2006/relationships/hyperlink" Target="https://baylesj.github.io/web-tempo-sync-demo/#arpeggios" TargetMode="External"/><Relationship Id="rId8" Type="http://schemas.openxmlformats.org/officeDocument/2006/relationships/hyperlink" Target="https://baylesj.github.io/web-tempo-sync-dem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baylesj.github.io/web-tempo-sync/" TargetMode="External"/><Relationship Id="rId4" Type="http://schemas.openxmlformats.org/officeDocument/2006/relationships/hyperlink" Target="https://github.com/baylesj/tempo-sync" TargetMode="External"/><Relationship Id="rId5" Type="http://schemas.openxmlformats.org/officeDocument/2006/relationships/hyperlink" Target="https://baylesj.github.io/web-tempo-sync-demo/#setup" TargetMode="External"/><Relationship Id="rId6" Type="http://schemas.openxmlformats.org/officeDocument/2006/relationships/hyperlink" Target="https://github.com/baylesj/tempo-sync" TargetMode="External"/><Relationship Id="rId7" Type="http://schemas.openxmlformats.org/officeDocument/2006/relationships/hyperlink" Target="https://baylesj.github.io/web-tempo-sync-demo/" TargetMode="External"/><Relationship Id="rId8" Type="http://schemas.openxmlformats.org/officeDocument/2006/relationships/hyperlink" Target="https://github.com/topics/web-tempo-sync"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github.com/baylesj/web-tempo-sync/issues/1" TargetMode="External"/><Relationship Id="rId4" Type="http://schemas.openxmlformats.org/officeDocument/2006/relationships/hyperlink" Target="https://github.com/baylesj/web-tempo-sync/issues/2" TargetMode="External"/><Relationship Id="rId11" Type="http://schemas.openxmlformats.org/officeDocument/2006/relationships/hyperlink" Target="https://github.com/baylesj/web-tempo-sync/issues" TargetMode="External"/><Relationship Id="rId10" Type="http://schemas.openxmlformats.org/officeDocument/2006/relationships/hyperlink" Target="https://github.com/baylesj/web-tempo-sync/issues/9" TargetMode="External"/><Relationship Id="rId9" Type="http://schemas.openxmlformats.org/officeDocument/2006/relationships/hyperlink" Target="https://github.com/baylesj/web-tempo-sync/issues/8" TargetMode="External"/><Relationship Id="rId5" Type="http://schemas.openxmlformats.org/officeDocument/2006/relationships/hyperlink" Target="https://github.com/baylesj/web-tempo-sync/issues/3" TargetMode="External"/><Relationship Id="rId6" Type="http://schemas.openxmlformats.org/officeDocument/2006/relationships/hyperlink" Target="https://github.com/baylesj/web-tempo-sync/issues/4" TargetMode="External"/><Relationship Id="rId7" Type="http://schemas.openxmlformats.org/officeDocument/2006/relationships/hyperlink" Target="https://github.com/baylesj/web-tempo-sync/issues/5" TargetMode="External"/><Relationship Id="rId8" Type="http://schemas.openxmlformats.org/officeDocument/2006/relationships/hyperlink" Target="https://github.com/baylesj/web-tempo-sync/issues/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baylesj/web-tempo-sync/issues/1" TargetMode="External"/><Relationship Id="rId4" Type="http://schemas.openxmlformats.org/officeDocument/2006/relationships/hyperlink" Target="https://baylesj.github.io/web-tempo-sync-demo/" TargetMode="External"/><Relationship Id="rId5" Type="http://schemas.openxmlformats.org/officeDocument/2006/relationships/hyperlink" Target="https://baylesj.github.io/web-tempo-sync/" TargetMode="External"/><Relationship Id="rId6" Type="http://schemas.openxmlformats.org/officeDocument/2006/relationships/hyperlink" Target="https://github.com/baylesj/web-tempo-sync/issu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124"/>
        </a:solidFill>
      </p:bgPr>
    </p:bg>
    <p:spTree>
      <p:nvGrpSpPr>
        <p:cNvPr id="15" name="Shape 15"/>
        <p:cNvGrpSpPr/>
        <p:nvPr/>
      </p:nvGrpSpPr>
      <p:grpSpPr>
        <a:xfrm>
          <a:off x="0" y="0"/>
          <a:ext cx="0" cy="0"/>
          <a:chOff x="0" y="0"/>
          <a:chExt cx="0" cy="0"/>
        </a:xfrm>
      </p:grpSpPr>
      <p:sp>
        <p:nvSpPr>
          <p:cNvPr id="16" name="Google Shape;16;p3"/>
          <p:cNvSpPr/>
          <p:nvPr/>
        </p:nvSpPr>
        <p:spPr>
          <a:xfrm>
            <a:off x="0" y="0"/>
            <a:ext cx="3054300" cy="101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p:nvPr/>
        </p:nvSpPr>
        <p:spPr>
          <a:xfrm>
            <a:off x="3048000" y="0"/>
            <a:ext cx="3054300" cy="1017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 name="Google Shape;18;p3"/>
          <p:cNvSpPr/>
          <p:nvPr/>
        </p:nvSpPr>
        <p:spPr>
          <a:xfrm>
            <a:off x="6096000" y="0"/>
            <a:ext cx="3054300" cy="1017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p:nvPr/>
        </p:nvSpPr>
        <p:spPr>
          <a:xfrm>
            <a:off x="9144000" y="0"/>
            <a:ext cx="3048000" cy="101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 name="Google Shape;20;p3"/>
          <p:cNvSpPr/>
          <p:nvPr/>
        </p:nvSpPr>
        <p:spPr>
          <a:xfrm>
            <a:off x="9448800" y="1524000"/>
            <a:ext cx="228600" cy="3174900"/>
          </a:xfrm>
          <a:prstGeom prst="roundRect">
            <a:avLst>
              <a:gd fmla="val 16667" name="adj"/>
            </a:avLst>
          </a:prstGeom>
          <a:solidFill>
            <a:srgbClr val="174E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3"/>
          <p:cNvSpPr/>
          <p:nvPr/>
        </p:nvSpPr>
        <p:spPr>
          <a:xfrm>
            <a:off x="9855200" y="2032000"/>
            <a:ext cx="228600" cy="2667000"/>
          </a:xfrm>
          <a:prstGeom prst="roundRect">
            <a:avLst>
              <a:gd fmla="val 16667" name="adj"/>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 name="Google Shape;22;p3"/>
          <p:cNvSpPr/>
          <p:nvPr/>
        </p:nvSpPr>
        <p:spPr>
          <a:xfrm>
            <a:off x="10261600" y="1219200"/>
            <a:ext cx="228600" cy="3479700"/>
          </a:xfrm>
          <a:prstGeom prst="roundRect">
            <a:avLst>
              <a:gd fmla="val 16667" name="adj"/>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3"/>
          <p:cNvSpPr/>
          <p:nvPr/>
        </p:nvSpPr>
        <p:spPr>
          <a:xfrm>
            <a:off x="10668000" y="1828800"/>
            <a:ext cx="228600" cy="2870100"/>
          </a:xfrm>
          <a:prstGeom prst="roundRect">
            <a:avLst>
              <a:gd fmla="val 16667" name="adj"/>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 name="Google Shape;24;p3"/>
          <p:cNvSpPr/>
          <p:nvPr/>
        </p:nvSpPr>
        <p:spPr>
          <a:xfrm>
            <a:off x="11074400" y="2336800"/>
            <a:ext cx="228600" cy="2362200"/>
          </a:xfrm>
          <a:prstGeom prst="roundRect">
            <a:avLst>
              <a:gd fmla="val 16667" name="adj"/>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 name="Google Shape;25;p3"/>
          <p:cNvSpPr/>
          <p:nvPr/>
        </p:nvSpPr>
        <p:spPr>
          <a:xfrm>
            <a:off x="711200" y="787400"/>
            <a:ext cx="5841900" cy="406500"/>
          </a:xfrm>
          <a:prstGeom prst="roundRect">
            <a:avLst>
              <a:gd fmla="val 16667" name="adj"/>
            </a:avLst>
          </a:prstGeom>
          <a:solidFill>
            <a:srgbClr val="2D2E30"/>
          </a:solidFill>
          <a:ln cap="flat" cmpd="sng" w="127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8AB4F8"/>
                </a:solidFill>
                <a:latin typeface="Google Sans"/>
                <a:ea typeface="Google Sans"/>
                <a:cs typeface="Google Sans"/>
                <a:sym typeface="Google Sans"/>
              </a:rPr>
              <a:t>   DRAFT PROPOSAL  ·  W3C AUDIO COMMUNITY GROUP</a:t>
            </a:r>
            <a:endParaRPr b="1" sz="1100">
              <a:solidFill>
                <a:srgbClr val="8AB4F8"/>
              </a:solidFill>
              <a:latin typeface="Google Sans"/>
              <a:ea typeface="Google Sans"/>
              <a:cs typeface="Google Sans"/>
              <a:sym typeface="Google Sans"/>
            </a:endParaRPr>
          </a:p>
        </p:txBody>
      </p:sp>
      <p:sp>
        <p:nvSpPr>
          <p:cNvPr id="26" name="Google Shape;26;p3"/>
          <p:cNvSpPr/>
          <p:nvPr/>
        </p:nvSpPr>
        <p:spPr>
          <a:xfrm>
            <a:off x="711200" y="1549400"/>
            <a:ext cx="8255100" cy="19557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US" sz="6400">
                <a:solidFill>
                  <a:srgbClr val="FFFFFF"/>
                </a:solidFill>
                <a:latin typeface="Google Sans"/>
                <a:ea typeface="Google Sans"/>
                <a:cs typeface="Google Sans"/>
                <a:sym typeface="Google Sans"/>
              </a:rPr>
              <a:t>Web Tempo Sync</a:t>
            </a:r>
            <a:endParaRPr b="1" sz="6400">
              <a:solidFill>
                <a:srgbClr val="FFFFFF"/>
              </a:solidFill>
              <a:latin typeface="Google Sans"/>
              <a:ea typeface="Google Sans"/>
              <a:cs typeface="Google Sans"/>
              <a:sym typeface="Google Sans"/>
            </a:endParaRPr>
          </a:p>
          <a:p>
            <a:pPr indent="0" lvl="0" marL="0" rtl="0" algn="l">
              <a:lnSpc>
                <a:spcPct val="112000"/>
              </a:lnSpc>
              <a:spcBef>
                <a:spcPts val="0"/>
              </a:spcBef>
              <a:spcAft>
                <a:spcPts val="0"/>
              </a:spcAft>
              <a:buNone/>
            </a:pPr>
            <a:r>
              <a:rPr lang="en-US" sz="2600">
                <a:solidFill>
                  <a:srgbClr val="8AB4F8"/>
                </a:solidFill>
                <a:latin typeface="Roboto Mono"/>
                <a:ea typeface="Roboto Mono"/>
                <a:cs typeface="Roboto Mono"/>
                <a:sym typeface="Roboto Mono"/>
              </a:rPr>
              <a:t>navigator.tempoSync</a:t>
            </a:r>
            <a:endParaRPr sz="2600">
              <a:solidFill>
                <a:srgbClr val="8AB4F8"/>
              </a:solidFill>
              <a:latin typeface="Roboto Mono"/>
              <a:ea typeface="Roboto Mono"/>
              <a:cs typeface="Roboto Mono"/>
              <a:sym typeface="Roboto Mono"/>
            </a:endParaRPr>
          </a:p>
        </p:txBody>
      </p:sp>
      <p:sp>
        <p:nvSpPr>
          <p:cNvPr id="27" name="Google Shape;27;p3"/>
          <p:cNvSpPr/>
          <p:nvPr/>
        </p:nvSpPr>
        <p:spPr>
          <a:xfrm>
            <a:off x="711200" y="3683000"/>
            <a:ext cx="8127900" cy="914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US" sz="2000">
                <a:solidFill>
                  <a:srgbClr val="E8EAED"/>
                </a:solidFill>
                <a:latin typeface="Google Sans Text"/>
                <a:ea typeface="Google Sans Text"/>
                <a:cs typeface="Google Sans Text"/>
                <a:sym typeface="Google Sans Text"/>
              </a:rPr>
              <a:t>Promoting the web to a first-class platform for music production and education</a:t>
            </a:r>
            <a:endParaRPr sz="2000">
              <a:solidFill>
                <a:srgbClr val="E8EAED"/>
              </a:solidFill>
              <a:latin typeface="Google Sans Text"/>
              <a:ea typeface="Google Sans Text"/>
              <a:cs typeface="Google Sans Text"/>
              <a:sym typeface="Google Sans Text"/>
            </a:endParaRPr>
          </a:p>
        </p:txBody>
      </p:sp>
      <p:sp>
        <p:nvSpPr>
          <p:cNvPr id="28" name="Google Shape;28;p3"/>
          <p:cNvSpPr/>
          <p:nvPr/>
        </p:nvSpPr>
        <p:spPr>
          <a:xfrm>
            <a:off x="711200" y="5232400"/>
            <a:ext cx="10769700" cy="12600"/>
          </a:xfrm>
          <a:prstGeom prst="rect">
            <a:avLst/>
          </a:prstGeom>
          <a:solidFill>
            <a:srgbClr val="3C40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3"/>
          <p:cNvSpPr/>
          <p:nvPr/>
        </p:nvSpPr>
        <p:spPr>
          <a:xfrm>
            <a:off x="711200" y="5435600"/>
            <a:ext cx="5334000" cy="81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600">
                <a:solidFill>
                  <a:srgbClr val="FFFFFF"/>
                </a:solidFill>
                <a:latin typeface="Google Sans"/>
                <a:ea typeface="Google Sans"/>
                <a:cs typeface="Google Sans"/>
                <a:sym typeface="Google Sans"/>
              </a:rPr>
              <a:t>Jordan Bayles  ·  Google Chrome</a:t>
            </a:r>
            <a:endParaRPr b="1" sz="1600">
              <a:solidFill>
                <a:srgbClr val="FFFFFF"/>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350">
                <a:solidFill>
                  <a:srgbClr val="9AA0A6"/>
                </a:solidFill>
                <a:latin typeface="Google Sans Text"/>
                <a:ea typeface="Google Sans Text"/>
                <a:cs typeface="Google Sans Text"/>
                <a:sym typeface="Google Sans Text"/>
              </a:rPr>
              <a:t>30 October 2026  ·  TPAC 2026</a:t>
            </a:r>
            <a:endParaRPr sz="1350">
              <a:solidFill>
                <a:srgbClr val="9AA0A6"/>
              </a:solidFill>
              <a:latin typeface="Google Sans Text"/>
              <a:ea typeface="Google Sans Text"/>
              <a:cs typeface="Google Sans Text"/>
              <a:sym typeface="Google Sans Text"/>
            </a:endParaRPr>
          </a:p>
        </p:txBody>
      </p:sp>
      <p:sp>
        <p:nvSpPr>
          <p:cNvPr id="30" name="Google Shape;30;p3"/>
          <p:cNvSpPr/>
          <p:nvPr/>
        </p:nvSpPr>
        <p:spPr>
          <a:xfrm>
            <a:off x="6908800" y="5537200"/>
            <a:ext cx="4572000" cy="533400"/>
          </a:xfrm>
          <a:prstGeom prst="roundRect">
            <a:avLst>
              <a:gd fmla="val 16667" name="adj"/>
            </a:avLst>
          </a:prstGeom>
          <a:solidFill>
            <a:srgbClr val="2D2E30"/>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250" u="sng">
                <a:solidFill>
                  <a:srgbClr val="8AB4F8"/>
                </a:solidFill>
                <a:latin typeface="Roboto Mono"/>
                <a:ea typeface="Roboto Mono"/>
                <a:cs typeface="Roboto Mono"/>
                <a:sym typeface="Roboto Mono"/>
                <a:hlinkClick r:id="rId3">
                  <a:extLst>
                    <a:ext uri="{A12FA001-AC4F-418D-AE19-62706E023703}">
                      <ahyp:hlinkClr val="tx"/>
                    </a:ext>
                  </a:extLst>
                </a:hlinkClick>
              </a:rPr>
              <a:t>baylesj.github.io/web-tempo-sync-demo</a:t>
            </a:r>
            <a:endParaRPr b="1" sz="1250">
              <a:solidFill>
                <a:srgbClr val="8AB4F8"/>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4"/>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4"/>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 name="Google Shape;38;p4"/>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 name="Google Shape;39;p4"/>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4"/>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01  ·  THE PROBLEM</a:t>
            </a:r>
            <a:endParaRPr b="1" sz="1100">
              <a:solidFill>
                <a:srgbClr val="1967D2"/>
              </a:solidFill>
              <a:latin typeface="Google Sans"/>
              <a:ea typeface="Google Sans"/>
              <a:cs typeface="Google Sans"/>
              <a:sym typeface="Google Sans"/>
            </a:endParaRPr>
          </a:p>
        </p:txBody>
      </p:sp>
      <p:sp>
        <p:nvSpPr>
          <p:cNvPr id="41" name="Google Shape;41;p4"/>
          <p:cNvSpPr/>
          <p:nvPr/>
        </p:nvSpPr>
        <p:spPr>
          <a:xfrm>
            <a:off x="609600" y="685800"/>
            <a:ext cx="10972800" cy="15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4200">
                <a:solidFill>
                  <a:srgbClr val="202124"/>
                </a:solidFill>
                <a:latin typeface="Google Sans"/>
                <a:ea typeface="Google Sans"/>
                <a:cs typeface="Google Sans"/>
                <a:sym typeface="Google Sans"/>
              </a:rPr>
              <a:t>Music software keeps time together.</a:t>
            </a:r>
            <a:endParaRPr b="1" sz="4200">
              <a:solidFill>
                <a:srgbClr val="202124"/>
              </a:solidFill>
              <a:latin typeface="Google Sans"/>
              <a:ea typeface="Google Sans"/>
              <a:cs typeface="Google Sans"/>
              <a:sym typeface="Google Sans"/>
            </a:endParaRPr>
          </a:p>
          <a:p>
            <a:pPr indent="0" lvl="0" marL="0" rtl="0" algn="l">
              <a:lnSpc>
                <a:spcPct val="115000"/>
              </a:lnSpc>
              <a:spcBef>
                <a:spcPts val="0"/>
              </a:spcBef>
              <a:spcAft>
                <a:spcPts val="0"/>
              </a:spcAft>
              <a:buNone/>
            </a:pPr>
            <a:r>
              <a:rPr b="1" lang="en-US" sz="4200">
                <a:solidFill>
                  <a:srgbClr val="4285F4"/>
                </a:solidFill>
                <a:latin typeface="Google Sans"/>
                <a:ea typeface="Google Sans"/>
                <a:cs typeface="Google Sans"/>
                <a:sym typeface="Google Sans"/>
              </a:rPr>
              <a:t>Web pages can’t join in.</a:t>
            </a:r>
            <a:endParaRPr b="1" sz="4200">
              <a:solidFill>
                <a:srgbClr val="4285F4"/>
              </a:solidFill>
              <a:latin typeface="Google Sans"/>
              <a:ea typeface="Google Sans"/>
              <a:cs typeface="Google Sans"/>
              <a:sym typeface="Google Sans"/>
            </a:endParaRPr>
          </a:p>
        </p:txBody>
      </p:sp>
      <p:sp>
        <p:nvSpPr>
          <p:cNvPr id="42" name="Google Shape;42;p4"/>
          <p:cNvSpPr/>
          <p:nvPr/>
        </p:nvSpPr>
        <p:spPr>
          <a:xfrm>
            <a:off x="609600" y="2387600"/>
            <a:ext cx="10972800" cy="10161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US" sz="1600">
                <a:solidFill>
                  <a:srgbClr val="3C4043"/>
                </a:solidFill>
                <a:latin typeface="Google Sans Text"/>
                <a:ea typeface="Google Sans Text"/>
                <a:cs typeface="Google Sans Text"/>
                <a:sym typeface="Google Sans Text"/>
              </a:rPr>
              <a:t>Ableton Link keeps tempo, bar phase and start/stop in step across Live, Bitwig, Traktor, Rekordbox, Serato, Push, Move, MPCs and hundreds of mobile apps, with no master clock and no setup. Joining takes UDP multicast on the local network, which no web page can do.</a:t>
            </a:r>
            <a:endParaRPr sz="1600">
              <a:solidFill>
                <a:srgbClr val="3C4043"/>
              </a:solidFill>
              <a:latin typeface="Google Sans Text"/>
              <a:ea typeface="Google Sans Text"/>
              <a:cs typeface="Google Sans Text"/>
              <a:sym typeface="Google Sans Text"/>
            </a:endParaRPr>
          </a:p>
        </p:txBody>
      </p:sp>
      <p:sp>
        <p:nvSpPr>
          <p:cNvPr id="43" name="Google Shape;43;p4"/>
          <p:cNvSpPr/>
          <p:nvPr/>
        </p:nvSpPr>
        <p:spPr>
          <a:xfrm>
            <a:off x="609600" y="3632200"/>
            <a:ext cx="5308500" cy="23367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 name="Google Shape;44;p4"/>
          <p:cNvSpPr/>
          <p:nvPr/>
        </p:nvSpPr>
        <p:spPr>
          <a:xfrm>
            <a:off x="609600" y="3632200"/>
            <a:ext cx="5308500" cy="63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4"/>
          <p:cNvSpPr/>
          <p:nvPr/>
        </p:nvSpPr>
        <p:spPr>
          <a:xfrm>
            <a:off x="838200" y="3860800"/>
            <a:ext cx="4851300" cy="19305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100">
                <a:solidFill>
                  <a:srgbClr val="188038"/>
                </a:solidFill>
                <a:latin typeface="Google Sans"/>
                <a:ea typeface="Google Sans"/>
                <a:cs typeface="Google Sans"/>
                <a:sym typeface="Google Sans"/>
              </a:rPr>
              <a:t>NATIVE &amp; HARDWARE ECOSYSTEM</a:t>
            </a:r>
            <a:endParaRPr b="1" sz="1100">
              <a:solidFill>
                <a:srgbClr val="188038"/>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1700">
                <a:solidFill>
                  <a:srgbClr val="202124"/>
                </a:solidFill>
                <a:latin typeface="Google Sans"/>
                <a:ea typeface="Google Sans"/>
                <a:cs typeface="Google Sans"/>
                <a:sym typeface="Google Sans"/>
              </a:rPr>
              <a:t>Shared musical timeline on the local network</a:t>
            </a:r>
            <a:endParaRPr b="1" sz="17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 Peer-to-peer UDP multicast discovers sessions on Wi-Fi or LAN with zero configuration.</a:t>
            </a:r>
            <a:endParaRPr sz="1350">
              <a:solidFill>
                <a:srgbClr val="3C4043"/>
              </a:solidFill>
              <a:latin typeface="Google Sans Text"/>
              <a:ea typeface="Google Sans Text"/>
              <a:cs typeface="Google Sans Text"/>
              <a:sym typeface="Google Sans Text"/>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 Every participant shares tempo, bar phase, and transport start/stop without a master clock.</a:t>
            </a:r>
            <a:endParaRPr sz="1350">
              <a:solidFill>
                <a:srgbClr val="3C4043"/>
              </a:solidFill>
              <a:latin typeface="Google Sans Text"/>
              <a:ea typeface="Google Sans Text"/>
              <a:cs typeface="Google Sans Text"/>
              <a:sym typeface="Google Sans Text"/>
            </a:endParaRPr>
          </a:p>
        </p:txBody>
      </p:sp>
      <p:sp>
        <p:nvSpPr>
          <p:cNvPr id="46" name="Google Shape;46;p4"/>
          <p:cNvSpPr/>
          <p:nvPr/>
        </p:nvSpPr>
        <p:spPr>
          <a:xfrm>
            <a:off x="6273800" y="3632200"/>
            <a:ext cx="5308500" cy="23367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4"/>
          <p:cNvSpPr/>
          <p:nvPr/>
        </p:nvSpPr>
        <p:spPr>
          <a:xfrm>
            <a:off x="6273800" y="3632200"/>
            <a:ext cx="5308500" cy="636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 name="Google Shape;48;p4"/>
          <p:cNvSpPr/>
          <p:nvPr/>
        </p:nvSpPr>
        <p:spPr>
          <a:xfrm>
            <a:off x="6502400" y="3860800"/>
            <a:ext cx="4851300" cy="19305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100">
                <a:solidFill>
                  <a:srgbClr val="C5221F"/>
                </a:solidFill>
                <a:latin typeface="Google Sans"/>
                <a:ea typeface="Google Sans"/>
                <a:cs typeface="Google Sans"/>
                <a:sym typeface="Google Sans"/>
              </a:rPr>
              <a:t>WEB PLATFORM GAP</a:t>
            </a:r>
            <a:endParaRPr b="1" sz="1100">
              <a:solidFill>
                <a:srgbClr val="C5221F"/>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1700">
                <a:solidFill>
                  <a:srgbClr val="202124"/>
                </a:solidFill>
                <a:latin typeface="Google Sans"/>
                <a:ea typeface="Google Sans"/>
                <a:cs typeface="Google Sans"/>
                <a:sym typeface="Google Sans"/>
              </a:rPr>
              <a:t>A web instrument always plays alone</a:t>
            </a:r>
            <a:endParaRPr b="1" sz="17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 Web pages cannot open UDP multicast sockets, for good privacy and security reasons.</a:t>
            </a:r>
            <a:endParaRPr sz="1350">
              <a:solidFill>
                <a:srgbClr val="3C4043"/>
              </a:solidFill>
              <a:latin typeface="Google Sans Text"/>
              <a:ea typeface="Google Sans Text"/>
              <a:cs typeface="Google Sans Text"/>
              <a:sym typeface="Google Sans Text"/>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 Browser-mediated sync bridges the timeline while keeping raw network packets out of the page.</a:t>
            </a:r>
            <a:endParaRPr sz="1350">
              <a:solidFill>
                <a:srgbClr val="3C4043"/>
              </a:solidFill>
              <a:latin typeface="Google Sans Text"/>
              <a:ea typeface="Google Sans Text"/>
              <a:cs typeface="Google Sans Text"/>
              <a:sym typeface="Google Sans Text"/>
            </a:endParaRPr>
          </a:p>
        </p:txBody>
      </p:sp>
      <p:sp>
        <p:nvSpPr>
          <p:cNvPr id="49" name="Google Shape;49;p4"/>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4"/>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51" name="Google Shape;51;p4"/>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02</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6" name="Shape 56"/>
        <p:cNvGrpSpPr/>
        <p:nvPr/>
      </p:nvGrpSpPr>
      <p:grpSpPr>
        <a:xfrm>
          <a:off x="0" y="0"/>
          <a:ext cx="0" cy="0"/>
          <a:chOff x="0" y="0"/>
          <a:chExt cx="0" cy="0"/>
        </a:xfrm>
      </p:grpSpPr>
      <p:sp>
        <p:nvSpPr>
          <p:cNvPr id="57" name="Google Shape;57;p5"/>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5"/>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5"/>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5"/>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5"/>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02  ·  MOTIVATING USE CASES</a:t>
            </a:r>
            <a:endParaRPr b="1" sz="1100">
              <a:solidFill>
                <a:srgbClr val="1967D2"/>
              </a:solidFill>
              <a:latin typeface="Google Sans"/>
              <a:ea typeface="Google Sans"/>
              <a:cs typeface="Google Sans"/>
              <a:sym typeface="Google Sans"/>
            </a:endParaRPr>
          </a:p>
        </p:txBody>
      </p:sp>
      <p:sp>
        <p:nvSpPr>
          <p:cNvPr id="62" name="Google Shape;62;p5"/>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Who needs it</a:t>
            </a:r>
            <a:endParaRPr b="1" sz="3400">
              <a:solidFill>
                <a:srgbClr val="202124"/>
              </a:solidFill>
              <a:latin typeface="Google Sans"/>
              <a:ea typeface="Google Sans"/>
              <a:cs typeface="Google Sans"/>
              <a:sym typeface="Google Sans"/>
            </a:endParaRPr>
          </a:p>
        </p:txBody>
      </p:sp>
      <p:sp>
        <p:nvSpPr>
          <p:cNvPr id="63" name="Google Shape;63;p5"/>
          <p:cNvSpPr/>
          <p:nvPr/>
        </p:nvSpPr>
        <p:spPr>
          <a:xfrm>
            <a:off x="609600" y="1498600"/>
            <a:ext cx="5308500" cy="21336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5"/>
          <p:cNvSpPr/>
          <p:nvPr/>
        </p:nvSpPr>
        <p:spPr>
          <a:xfrm>
            <a:off x="609600" y="1498600"/>
            <a:ext cx="53085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5"/>
          <p:cNvSpPr/>
          <p:nvPr/>
        </p:nvSpPr>
        <p:spPr>
          <a:xfrm>
            <a:off x="863600" y="1727200"/>
            <a:ext cx="4800600" cy="1727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050">
                <a:solidFill>
                  <a:srgbClr val="1967D2"/>
                </a:solidFill>
                <a:latin typeface="Google Sans"/>
                <a:ea typeface="Google Sans"/>
                <a:cs typeface="Google Sans"/>
                <a:sym typeface="Google Sans"/>
              </a:rPr>
              <a:t>01  ·  EDUCATION</a:t>
            </a:r>
            <a:endParaRPr b="1" sz="1050">
              <a:solidFill>
                <a:srgbClr val="1967D2"/>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2100">
                <a:solidFill>
                  <a:srgbClr val="202124"/>
                </a:solidFill>
                <a:latin typeface="Google Sans"/>
                <a:ea typeface="Google Sans"/>
                <a:cs typeface="Google Sans"/>
                <a:sym typeface="Google Sans"/>
              </a:rPr>
              <a:t>Music education</a:t>
            </a:r>
            <a:endParaRPr b="1" sz="21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500">
                <a:solidFill>
                  <a:srgbClr val="3C4043"/>
                </a:solidFill>
                <a:latin typeface="Google Sans Text"/>
                <a:ea typeface="Google Sans Text"/>
                <a:cs typeface="Google Sans Text"/>
                <a:sym typeface="Google Sans Text"/>
              </a:rPr>
              <a:t>A lesson on learn.ableton.com that plays along with the student’s Live set or Push, with nothing to install.</a:t>
            </a:r>
            <a:endParaRPr sz="1500">
              <a:solidFill>
                <a:srgbClr val="3C4043"/>
              </a:solidFill>
              <a:latin typeface="Google Sans Text"/>
              <a:ea typeface="Google Sans Text"/>
              <a:cs typeface="Google Sans Text"/>
              <a:sym typeface="Google Sans Text"/>
            </a:endParaRPr>
          </a:p>
        </p:txBody>
      </p:sp>
      <p:sp>
        <p:nvSpPr>
          <p:cNvPr id="66" name="Google Shape;66;p5"/>
          <p:cNvSpPr/>
          <p:nvPr/>
        </p:nvSpPr>
        <p:spPr>
          <a:xfrm>
            <a:off x="6273800" y="1498600"/>
            <a:ext cx="5308500" cy="21336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5"/>
          <p:cNvSpPr/>
          <p:nvPr/>
        </p:nvSpPr>
        <p:spPr>
          <a:xfrm>
            <a:off x="6273800" y="1498600"/>
            <a:ext cx="5308500" cy="636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5"/>
          <p:cNvSpPr/>
          <p:nvPr/>
        </p:nvSpPr>
        <p:spPr>
          <a:xfrm>
            <a:off x="6527800" y="1727200"/>
            <a:ext cx="4800600" cy="1727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050">
                <a:solidFill>
                  <a:srgbClr val="C5221F"/>
                </a:solidFill>
                <a:latin typeface="Google Sans"/>
                <a:ea typeface="Google Sans"/>
                <a:cs typeface="Google Sans"/>
                <a:sym typeface="Google Sans"/>
              </a:rPr>
              <a:t>02  ·  LIVE PERFORMANCE</a:t>
            </a:r>
            <a:endParaRPr b="1" sz="1050">
              <a:solidFill>
                <a:srgbClr val="C5221F"/>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2100">
                <a:solidFill>
                  <a:srgbClr val="202124"/>
                </a:solidFill>
                <a:latin typeface="Google Sans"/>
                <a:ea typeface="Google Sans"/>
                <a:cs typeface="Google Sans"/>
                <a:sym typeface="Google Sans"/>
              </a:rPr>
              <a:t>Live coding and visuals</a:t>
            </a:r>
            <a:endParaRPr b="1" sz="21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500">
                <a:solidFill>
                  <a:srgbClr val="3C4043"/>
                </a:solidFill>
                <a:latin typeface="Google Sans Text"/>
                <a:ea typeface="Google Sans Text"/>
                <a:cs typeface="Google Sans Text"/>
                <a:sym typeface="Google Sans Text"/>
              </a:rPr>
              <a:t>Strudel has wanted Link since 2023. Hydra visuals that land on the beat.</a:t>
            </a:r>
            <a:endParaRPr sz="1500">
              <a:solidFill>
                <a:srgbClr val="3C4043"/>
              </a:solidFill>
              <a:latin typeface="Google Sans Text"/>
              <a:ea typeface="Google Sans Text"/>
              <a:cs typeface="Google Sans Text"/>
              <a:sym typeface="Google Sans Text"/>
            </a:endParaRPr>
          </a:p>
        </p:txBody>
      </p:sp>
      <p:sp>
        <p:nvSpPr>
          <p:cNvPr id="69" name="Google Shape;69;p5"/>
          <p:cNvSpPr/>
          <p:nvPr/>
        </p:nvSpPr>
        <p:spPr>
          <a:xfrm>
            <a:off x="609600" y="3835400"/>
            <a:ext cx="5308500" cy="21336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5"/>
          <p:cNvSpPr/>
          <p:nvPr/>
        </p:nvSpPr>
        <p:spPr>
          <a:xfrm>
            <a:off x="609600" y="3835400"/>
            <a:ext cx="5308500" cy="636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5"/>
          <p:cNvSpPr/>
          <p:nvPr/>
        </p:nvSpPr>
        <p:spPr>
          <a:xfrm>
            <a:off x="863600" y="4064000"/>
            <a:ext cx="4800600" cy="1727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050">
                <a:solidFill>
                  <a:srgbClr val="B06000"/>
                </a:solidFill>
                <a:latin typeface="Google Sans"/>
                <a:ea typeface="Google Sans"/>
                <a:cs typeface="Google Sans"/>
                <a:sym typeface="Google Sans"/>
              </a:rPr>
              <a:t>03  ·  MOBILE WEB</a:t>
            </a:r>
            <a:endParaRPr b="1" sz="1050">
              <a:solidFill>
                <a:srgbClr val="B06000"/>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2100">
                <a:solidFill>
                  <a:srgbClr val="202124"/>
                </a:solidFill>
                <a:latin typeface="Google Sans"/>
                <a:ea typeface="Google Sans"/>
                <a:cs typeface="Google Sans"/>
                <a:sym typeface="Google Sans"/>
              </a:rPr>
              <a:t>A phone in the room</a:t>
            </a:r>
            <a:endParaRPr b="1" sz="21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500">
                <a:solidFill>
                  <a:srgbClr val="3C4043"/>
                </a:solidFill>
                <a:latin typeface="Google Sans Text"/>
                <a:ea typeface="Google Sans Text"/>
                <a:cs typeface="Google Sans Text"/>
                <a:sym typeface="Google Sans Text"/>
              </a:rPr>
              <a:t>Open a URL on the same Wi-Fi and play in time with whatever is already playing.</a:t>
            </a:r>
            <a:endParaRPr sz="1500">
              <a:solidFill>
                <a:srgbClr val="3C4043"/>
              </a:solidFill>
              <a:latin typeface="Google Sans Text"/>
              <a:ea typeface="Google Sans Text"/>
              <a:cs typeface="Google Sans Text"/>
              <a:sym typeface="Google Sans Text"/>
            </a:endParaRPr>
          </a:p>
        </p:txBody>
      </p:sp>
      <p:sp>
        <p:nvSpPr>
          <p:cNvPr id="72" name="Google Shape;72;p5"/>
          <p:cNvSpPr/>
          <p:nvPr/>
        </p:nvSpPr>
        <p:spPr>
          <a:xfrm>
            <a:off x="6273800" y="3835400"/>
            <a:ext cx="5308500" cy="21336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5"/>
          <p:cNvSpPr/>
          <p:nvPr/>
        </p:nvSpPr>
        <p:spPr>
          <a:xfrm>
            <a:off x="6273800" y="3835400"/>
            <a:ext cx="5308500" cy="63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5"/>
          <p:cNvSpPr/>
          <p:nvPr/>
        </p:nvSpPr>
        <p:spPr>
          <a:xfrm>
            <a:off x="6527800" y="4064000"/>
            <a:ext cx="4800600" cy="1727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sz="1050">
                <a:solidFill>
                  <a:srgbClr val="188038"/>
                </a:solidFill>
                <a:latin typeface="Google Sans"/>
                <a:ea typeface="Google Sans"/>
                <a:cs typeface="Google Sans"/>
                <a:sym typeface="Google Sans"/>
              </a:rPr>
              <a:t>04  ·  PRODUCTION</a:t>
            </a:r>
            <a:endParaRPr b="1" sz="1050">
              <a:solidFill>
                <a:srgbClr val="188038"/>
              </a:solidFill>
              <a:latin typeface="Google Sans"/>
              <a:ea typeface="Google Sans"/>
              <a:cs typeface="Google Sans"/>
              <a:sym typeface="Google Sans"/>
            </a:endParaRPr>
          </a:p>
          <a:p>
            <a:pPr indent="0" lvl="0" marL="0" rtl="0" algn="l">
              <a:lnSpc>
                <a:spcPct val="130000"/>
              </a:lnSpc>
              <a:spcBef>
                <a:spcPts val="0"/>
              </a:spcBef>
              <a:spcAft>
                <a:spcPts val="0"/>
              </a:spcAft>
              <a:buNone/>
            </a:pPr>
            <a:r>
              <a:rPr b="1" lang="en-US" sz="2100">
                <a:solidFill>
                  <a:srgbClr val="202124"/>
                </a:solidFill>
                <a:latin typeface="Google Sans"/>
                <a:ea typeface="Google Sans"/>
                <a:cs typeface="Google Sans"/>
                <a:sym typeface="Google Sans"/>
              </a:rPr>
              <a:t>Web DAWs and instruments</a:t>
            </a:r>
            <a:endParaRPr b="1" sz="2100">
              <a:solidFill>
                <a:srgbClr val="202124"/>
              </a:solidFill>
              <a:latin typeface="Google Sans"/>
              <a:ea typeface="Google Sans"/>
              <a:cs typeface="Google Sans"/>
              <a:sym typeface="Google Sans"/>
            </a:endParaRPr>
          </a:p>
          <a:p>
            <a:pPr indent="0" lvl="0" marL="0" rtl="0" algn="l">
              <a:lnSpc>
                <a:spcPct val="130000"/>
              </a:lnSpc>
              <a:spcBef>
                <a:spcPts val="0"/>
              </a:spcBef>
              <a:spcAft>
                <a:spcPts val="0"/>
              </a:spcAft>
              <a:buNone/>
            </a:pPr>
            <a:r>
              <a:rPr lang="en-US" sz="1500">
                <a:solidFill>
                  <a:srgbClr val="3C4043"/>
                </a:solidFill>
                <a:latin typeface="Google Sans Text"/>
                <a:ea typeface="Google Sans Text"/>
                <a:cs typeface="Google Sans Text"/>
                <a:sym typeface="Google Sans Text"/>
              </a:rPr>
              <a:t>Lock a browser instrument or sequencer to the gear on stage or in the studio.</a:t>
            </a:r>
            <a:endParaRPr sz="1500">
              <a:solidFill>
                <a:srgbClr val="3C4043"/>
              </a:solidFill>
              <a:latin typeface="Google Sans Text"/>
              <a:ea typeface="Google Sans Text"/>
              <a:cs typeface="Google Sans Text"/>
              <a:sym typeface="Google Sans Text"/>
            </a:endParaRPr>
          </a:p>
        </p:txBody>
      </p:sp>
      <p:sp>
        <p:nvSpPr>
          <p:cNvPr id="75" name="Google Shape;75;p5"/>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5"/>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77" name="Google Shape;77;p5"/>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03</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6"/>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6"/>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6"/>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6"/>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03  ·  CONSIDERED ALTERNATIVES</a:t>
            </a:r>
            <a:endParaRPr b="1" sz="1100">
              <a:solidFill>
                <a:srgbClr val="1967D2"/>
              </a:solidFill>
              <a:latin typeface="Google Sans"/>
              <a:ea typeface="Google Sans"/>
              <a:cs typeface="Google Sans"/>
              <a:sym typeface="Google Sans"/>
            </a:endParaRPr>
          </a:p>
        </p:txBody>
      </p:sp>
      <p:sp>
        <p:nvSpPr>
          <p:cNvPr id="88" name="Google Shape;88;p6"/>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Why not an extension? We built one.</a:t>
            </a:r>
            <a:endParaRPr b="1" sz="3400">
              <a:solidFill>
                <a:srgbClr val="202124"/>
              </a:solidFill>
              <a:latin typeface="Google Sans"/>
              <a:ea typeface="Google Sans"/>
              <a:cs typeface="Google Sans"/>
              <a:sym typeface="Google Sans"/>
            </a:endParaRPr>
          </a:p>
        </p:txBody>
      </p:sp>
      <p:sp>
        <p:nvSpPr>
          <p:cNvPr id="89" name="Google Shape;89;p6"/>
          <p:cNvSpPr/>
          <p:nvPr/>
        </p:nvSpPr>
        <p:spPr>
          <a:xfrm>
            <a:off x="609600" y="1473200"/>
            <a:ext cx="5308500" cy="37338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6"/>
          <p:cNvSpPr/>
          <p:nvPr/>
        </p:nvSpPr>
        <p:spPr>
          <a:xfrm>
            <a:off x="609600" y="1473200"/>
            <a:ext cx="5308500" cy="63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6"/>
          <p:cNvSpPr/>
          <p:nvPr/>
        </p:nvSpPr>
        <p:spPr>
          <a:xfrm>
            <a:off x="863600" y="1701800"/>
            <a:ext cx="4800600" cy="30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US" sz="1200">
                <a:solidFill>
                  <a:srgbClr val="188038"/>
                </a:solidFill>
                <a:latin typeface="Google Sans"/>
                <a:ea typeface="Google Sans"/>
                <a:cs typeface="Google Sans"/>
                <a:sym typeface="Google Sans"/>
              </a:rPr>
              <a:t>TIMING: FINE</a:t>
            </a:r>
            <a:endParaRPr b="1" sz="1200">
              <a:solidFill>
                <a:srgbClr val="188038"/>
              </a:solidFill>
              <a:latin typeface="Google Sans"/>
              <a:ea typeface="Google Sans"/>
              <a:cs typeface="Google Sans"/>
              <a:sym typeface="Google Sans"/>
            </a:endParaRPr>
          </a:p>
        </p:txBody>
      </p:sp>
      <p:sp>
        <p:nvSpPr>
          <p:cNvPr id="92" name="Google Shape;92;p6"/>
          <p:cNvSpPr/>
          <p:nvPr/>
        </p:nvSpPr>
        <p:spPr>
          <a:xfrm>
            <a:off x="863600" y="2057400"/>
            <a:ext cx="4800600" cy="11175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6200">
                <a:solidFill>
                  <a:srgbClr val="1967D2"/>
                </a:solidFill>
                <a:latin typeface="Google Sans"/>
                <a:ea typeface="Google Sans"/>
                <a:cs typeface="Google Sans"/>
                <a:sym typeface="Google Sans"/>
              </a:rPr>
              <a:t>~0.1 ms</a:t>
            </a:r>
            <a:endParaRPr b="1" sz="6200">
              <a:solidFill>
                <a:srgbClr val="1967D2"/>
              </a:solidFill>
              <a:latin typeface="Google Sans"/>
              <a:ea typeface="Google Sans"/>
              <a:cs typeface="Google Sans"/>
              <a:sym typeface="Google Sans"/>
            </a:endParaRPr>
          </a:p>
        </p:txBody>
      </p:sp>
      <p:sp>
        <p:nvSpPr>
          <p:cNvPr id="93" name="Google Shape;93;p6"/>
          <p:cNvSpPr/>
          <p:nvPr/>
        </p:nvSpPr>
        <p:spPr>
          <a:xfrm>
            <a:off x="863600" y="3251200"/>
            <a:ext cx="4800600" cy="17271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b="1" lang="en-US" sz="1450">
                <a:solidFill>
                  <a:srgbClr val="202124"/>
                </a:solidFill>
                <a:latin typeface="Google Sans"/>
                <a:ea typeface="Google Sans"/>
                <a:cs typeface="Google Sans"/>
                <a:sym typeface="Google Sans"/>
              </a:rPr>
              <a:t>Clock offset error (0.3 ms best round trip)</a:t>
            </a:r>
            <a:endParaRPr b="1" sz="1450">
              <a:solidFill>
                <a:srgbClr val="202124"/>
              </a:solidFill>
              <a:latin typeface="Google Sans"/>
              <a:ea typeface="Google Sans"/>
              <a:cs typeface="Google Sans"/>
              <a:sym typeface="Google Sans"/>
            </a:endParaRPr>
          </a:p>
          <a:p>
            <a:pPr indent="0" lvl="0" marL="0" rtl="0" algn="l">
              <a:lnSpc>
                <a:spcPct val="135000"/>
              </a:lnSpc>
              <a:spcBef>
                <a:spcPts val="0"/>
              </a:spcBef>
              <a:spcAft>
                <a:spcPts val="0"/>
              </a:spcAft>
              <a:buNone/>
            </a:pPr>
            <a:r>
              <a:rPr lang="en-US" sz="1500">
                <a:solidFill>
                  <a:srgbClr val="3C4043"/>
                </a:solidFill>
                <a:latin typeface="Google Sans Text"/>
                <a:ea typeface="Google Sans Text"/>
                <a:cs typeface="Google Sans Text"/>
                <a:sym typeface="Google Sans Text"/>
              </a:rPr>
              <a:t>Extension plus a native helper gives stable Chrome navigator.tempoSync today. It plays in time with Live.</a:t>
            </a:r>
            <a:endParaRPr sz="1500">
              <a:solidFill>
                <a:srgbClr val="3C4043"/>
              </a:solidFill>
              <a:latin typeface="Google Sans Text"/>
              <a:ea typeface="Google Sans Text"/>
              <a:cs typeface="Google Sans Text"/>
              <a:sym typeface="Google Sans Text"/>
            </a:endParaRPr>
          </a:p>
        </p:txBody>
      </p:sp>
      <p:sp>
        <p:nvSpPr>
          <p:cNvPr id="94" name="Google Shape;94;p6"/>
          <p:cNvSpPr/>
          <p:nvPr/>
        </p:nvSpPr>
        <p:spPr>
          <a:xfrm>
            <a:off x="6273800" y="1473200"/>
            <a:ext cx="5308500" cy="37338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6"/>
          <p:cNvSpPr/>
          <p:nvPr/>
        </p:nvSpPr>
        <p:spPr>
          <a:xfrm>
            <a:off x="6273800" y="1473200"/>
            <a:ext cx="5308500" cy="636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6"/>
          <p:cNvSpPr/>
          <p:nvPr/>
        </p:nvSpPr>
        <p:spPr>
          <a:xfrm>
            <a:off x="6527800" y="1701800"/>
            <a:ext cx="4800600" cy="30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US" sz="1200">
                <a:solidFill>
                  <a:srgbClr val="C5221F"/>
                </a:solidFill>
                <a:latin typeface="Google Sans"/>
                <a:ea typeface="Google Sans"/>
                <a:cs typeface="Google Sans"/>
                <a:sym typeface="Google Sans"/>
              </a:rPr>
              <a:t>REACH: NOT FINE</a:t>
            </a:r>
            <a:endParaRPr b="1" sz="1200">
              <a:solidFill>
                <a:srgbClr val="C5221F"/>
              </a:solidFill>
              <a:latin typeface="Google Sans"/>
              <a:ea typeface="Google Sans"/>
              <a:cs typeface="Google Sans"/>
              <a:sym typeface="Google Sans"/>
            </a:endParaRPr>
          </a:p>
        </p:txBody>
      </p:sp>
      <p:sp>
        <p:nvSpPr>
          <p:cNvPr id="97" name="Google Shape;97;p6"/>
          <p:cNvSpPr/>
          <p:nvPr/>
        </p:nvSpPr>
        <p:spPr>
          <a:xfrm>
            <a:off x="6527800" y="2133600"/>
            <a:ext cx="4800600" cy="2844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en-US" sz="1500">
                <a:solidFill>
                  <a:srgbClr val="202124"/>
                </a:solidFill>
                <a:latin typeface="Google Sans Text"/>
                <a:ea typeface="Google Sans Text"/>
                <a:cs typeface="Google Sans Text"/>
                <a:sym typeface="Google Sans Text"/>
              </a:rPr>
              <a:t>• A native install, and an extension that can read every site</a:t>
            </a:r>
            <a:endParaRPr b="1" sz="1500">
              <a:solidFill>
                <a:srgbClr val="202124"/>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t/>
            </a:r>
            <a:endParaRPr b="1" sz="1500">
              <a:solidFill>
                <a:srgbClr val="202124"/>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rPr b="1" lang="en-US" sz="1500">
                <a:solidFill>
                  <a:srgbClr val="202124"/>
                </a:solidFill>
                <a:latin typeface="Google Sans Text"/>
                <a:ea typeface="Google Sans Text"/>
                <a:cs typeface="Google Sans Text"/>
                <a:sym typeface="Google Sans Text"/>
              </a:rPr>
              <a:t>• No Android, ChromeOS or iOS</a:t>
            </a:r>
            <a:endParaRPr b="1" sz="1500">
              <a:solidFill>
                <a:srgbClr val="202124"/>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t/>
            </a:r>
            <a:endParaRPr b="1" sz="1500">
              <a:solidFill>
                <a:srgbClr val="202124"/>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rPr lang="en-US" sz="1500">
                <a:solidFill>
                  <a:srgbClr val="3C4043"/>
                </a:solidFill>
                <a:latin typeface="Google Sans Text"/>
                <a:ea typeface="Google Sans Text"/>
                <a:cs typeface="Google Sans Text"/>
                <a:sym typeface="Google Sans Text"/>
              </a:rPr>
              <a:t>• Misses the cases that matter: a lesson that just works, a phone, a school Chromebook</a:t>
            </a:r>
            <a:endParaRPr sz="1500">
              <a:solidFill>
                <a:srgbClr val="3C4043"/>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t/>
            </a:r>
            <a:endParaRPr sz="1500">
              <a:solidFill>
                <a:srgbClr val="3C4043"/>
              </a:solidFill>
              <a:latin typeface="Google Sans Text"/>
              <a:ea typeface="Google Sans Text"/>
              <a:cs typeface="Google Sans Text"/>
              <a:sym typeface="Google Sans Text"/>
            </a:endParaRPr>
          </a:p>
          <a:p>
            <a:pPr indent="0" lvl="0" marL="0" rtl="0" algn="l">
              <a:lnSpc>
                <a:spcPct val="120000"/>
              </a:lnSpc>
              <a:spcBef>
                <a:spcPts val="0"/>
              </a:spcBef>
              <a:spcAft>
                <a:spcPts val="0"/>
              </a:spcAft>
              <a:buNone/>
            </a:pPr>
            <a:r>
              <a:rPr lang="en-US">
                <a:solidFill>
                  <a:srgbClr val="5F6368"/>
                </a:solidFill>
                <a:latin typeface="Google Sans Text"/>
                <a:ea typeface="Google Sans Text"/>
                <a:cs typeface="Google Sans Text"/>
                <a:sym typeface="Google Sans Text"/>
              </a:rPr>
              <a:t>• Direct Sockets is IWA-only; Timing Object has no local network discovery</a:t>
            </a:r>
            <a:endParaRPr>
              <a:solidFill>
                <a:srgbClr val="5F6368"/>
              </a:solidFill>
              <a:latin typeface="Google Sans Text"/>
              <a:ea typeface="Google Sans Text"/>
              <a:cs typeface="Google Sans Text"/>
              <a:sym typeface="Google Sans Text"/>
            </a:endParaRPr>
          </a:p>
        </p:txBody>
      </p:sp>
      <p:sp>
        <p:nvSpPr>
          <p:cNvPr id="98" name="Google Shape;98;p6"/>
          <p:cNvSpPr/>
          <p:nvPr/>
        </p:nvSpPr>
        <p:spPr>
          <a:xfrm>
            <a:off x="609600" y="5410200"/>
            <a:ext cx="10972800" cy="635100"/>
          </a:xfrm>
          <a:prstGeom prst="roundRect">
            <a:avLst>
              <a:gd fmla="val 16667" name="adj"/>
            </a:avLst>
          </a:prstGeom>
          <a:solidFill>
            <a:srgbClr val="E8F0FE"/>
          </a:solidFill>
          <a:ln cap="flat" cmpd="sng" w="127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2000">
                <a:solidFill>
                  <a:srgbClr val="174EA6"/>
                </a:solidFill>
                <a:latin typeface="Google Sans"/>
                <a:ea typeface="Google Sans"/>
                <a:cs typeface="Google Sans"/>
                <a:sym typeface="Google Sans"/>
              </a:rPr>
              <a:t>This is about reach, not timing.</a:t>
            </a:r>
            <a:endParaRPr b="1" sz="2000">
              <a:solidFill>
                <a:srgbClr val="174EA6"/>
              </a:solidFill>
              <a:latin typeface="Google Sans"/>
              <a:ea typeface="Google Sans"/>
              <a:cs typeface="Google Sans"/>
              <a:sym typeface="Google Sans"/>
            </a:endParaRPr>
          </a:p>
        </p:txBody>
      </p:sp>
      <p:sp>
        <p:nvSpPr>
          <p:cNvPr id="99" name="Google Shape;99;p6"/>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6"/>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101" name="Google Shape;101;p6"/>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04</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7"/>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7"/>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7"/>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7"/>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7"/>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04  ·  PROPOSED API</a:t>
            </a:r>
            <a:endParaRPr b="1" sz="1100">
              <a:solidFill>
                <a:srgbClr val="1967D2"/>
              </a:solidFill>
              <a:latin typeface="Google Sans"/>
              <a:ea typeface="Google Sans"/>
              <a:cs typeface="Google Sans"/>
              <a:sym typeface="Google Sans"/>
            </a:endParaRPr>
          </a:p>
        </p:txBody>
      </p:sp>
      <p:sp>
        <p:nvSpPr>
          <p:cNvPr id="112" name="Google Shape;112;p7"/>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The API: capture, schedule, commit</a:t>
            </a:r>
            <a:endParaRPr b="1" sz="3400">
              <a:solidFill>
                <a:srgbClr val="202124"/>
              </a:solidFill>
              <a:latin typeface="Google Sans"/>
              <a:ea typeface="Google Sans"/>
              <a:cs typeface="Google Sans"/>
              <a:sym typeface="Google Sans"/>
            </a:endParaRPr>
          </a:p>
        </p:txBody>
      </p:sp>
      <p:sp>
        <p:nvSpPr>
          <p:cNvPr id="113" name="Google Shape;113;p7"/>
          <p:cNvSpPr/>
          <p:nvPr/>
        </p:nvSpPr>
        <p:spPr>
          <a:xfrm>
            <a:off x="609600" y="1447800"/>
            <a:ext cx="10972800" cy="3048000"/>
          </a:xfrm>
          <a:prstGeom prst="rect">
            <a:avLst/>
          </a:prstGeom>
          <a:solidFill>
            <a:srgbClr val="202124"/>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7"/>
          <p:cNvSpPr/>
          <p:nvPr/>
        </p:nvSpPr>
        <p:spPr>
          <a:xfrm>
            <a:off x="609600" y="1447800"/>
            <a:ext cx="27495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7"/>
          <p:cNvSpPr/>
          <p:nvPr/>
        </p:nvSpPr>
        <p:spPr>
          <a:xfrm>
            <a:off x="3352800" y="1447800"/>
            <a:ext cx="2749500" cy="636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7"/>
          <p:cNvSpPr/>
          <p:nvPr/>
        </p:nvSpPr>
        <p:spPr>
          <a:xfrm>
            <a:off x="6096000" y="1447800"/>
            <a:ext cx="2749500" cy="636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7"/>
          <p:cNvSpPr/>
          <p:nvPr/>
        </p:nvSpPr>
        <p:spPr>
          <a:xfrm>
            <a:off x="8839200" y="1447800"/>
            <a:ext cx="2743200" cy="63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7"/>
          <p:cNvSpPr/>
          <p:nvPr/>
        </p:nvSpPr>
        <p:spPr>
          <a:xfrm>
            <a:off x="863600" y="1625600"/>
            <a:ext cx="10464900" cy="27177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350">
                <a:solidFill>
                  <a:srgbClr val="FF7B72"/>
                </a:solidFill>
                <a:latin typeface="Roboto Mono"/>
                <a:ea typeface="Roboto Mono"/>
                <a:cs typeface="Roboto Mono"/>
                <a:sym typeface="Roboto Mono"/>
              </a:rPr>
              <a:t>const</a:t>
            </a:r>
            <a:r>
              <a:rPr lang="en-US" sz="1350">
                <a:solidFill>
                  <a:srgbClr val="E8EAED"/>
                </a:solidFill>
                <a:latin typeface="Roboto Mono"/>
                <a:ea typeface="Roboto Mono"/>
                <a:cs typeface="Roboto Mono"/>
                <a:sym typeface="Roboto Mono"/>
              </a:rPr>
              <a:t> session = </a:t>
            </a:r>
            <a:r>
              <a:rPr b="1" lang="en-US" sz="1350">
                <a:solidFill>
                  <a:srgbClr val="FF7B72"/>
                </a:solidFill>
                <a:latin typeface="Roboto Mono"/>
                <a:ea typeface="Roboto Mono"/>
                <a:cs typeface="Roboto Mono"/>
                <a:sym typeface="Roboto Mono"/>
              </a:rPr>
              <a:t>await</a:t>
            </a:r>
            <a:r>
              <a:rPr lang="en-US" sz="1350">
                <a:solidFill>
                  <a:srgbClr val="E8EAED"/>
                </a:solidFill>
                <a:latin typeface="Roboto Mono"/>
                <a:ea typeface="Roboto Mono"/>
                <a:cs typeface="Roboto Mono"/>
                <a:sym typeface="Roboto Mono"/>
              </a:rPr>
              <a:t> navigator.tempoSync.</a:t>
            </a:r>
            <a:r>
              <a:rPr b="1" lang="en-US" sz="1350">
                <a:solidFill>
                  <a:srgbClr val="8AB4F8"/>
                </a:solidFill>
                <a:latin typeface="Roboto Mono"/>
                <a:ea typeface="Roboto Mono"/>
                <a:cs typeface="Roboto Mono"/>
                <a:sym typeface="Roboto Mono"/>
              </a:rPr>
              <a:t>requestSession</a:t>
            </a:r>
            <a:r>
              <a:rPr lang="en-US" sz="1350">
                <a:solidFill>
                  <a:srgbClr val="E8EAED"/>
                </a:solidFill>
                <a:latin typeface="Roboto Mono"/>
                <a:ea typeface="Roboto Mono"/>
                <a:cs typeface="Roboto Mono"/>
                <a:sym typeface="Roboto Mono"/>
              </a:rPr>
              <a:t>({ quantum: </a:t>
            </a:r>
            <a:r>
              <a:rPr b="1" lang="en-US" sz="1350">
                <a:solidFill>
                  <a:srgbClr val="81C995"/>
                </a:solidFill>
                <a:latin typeface="Roboto Mono"/>
                <a:ea typeface="Roboto Mono"/>
                <a:cs typeface="Roboto Mono"/>
                <a:sym typeface="Roboto Mono"/>
              </a:rPr>
              <a:t>4</a:t>
            </a:r>
            <a:r>
              <a:rPr lang="en-US" sz="1350">
                <a:solidFill>
                  <a:srgbClr val="E8EAED"/>
                </a:solidFill>
                <a:latin typeface="Roboto Mono"/>
                <a:ea typeface="Roboto Mono"/>
                <a:cs typeface="Roboto Mono"/>
                <a:sym typeface="Roboto Mono"/>
              </a:rPr>
              <a:t> });</a:t>
            </a:r>
            <a:endParaRPr sz="1350">
              <a:solidFill>
                <a:srgbClr val="E8EAED"/>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en-US" sz="1350">
                <a:solidFill>
                  <a:srgbClr val="FF7B72"/>
                </a:solidFill>
                <a:latin typeface="Roboto Mono"/>
                <a:ea typeface="Roboto Mono"/>
                <a:cs typeface="Roboto Mono"/>
                <a:sym typeface="Roboto Mono"/>
              </a:rPr>
              <a:t>const</a:t>
            </a:r>
            <a:r>
              <a:rPr lang="en-US" sz="1350">
                <a:solidFill>
                  <a:srgbClr val="E8EAED"/>
                </a:solidFill>
                <a:latin typeface="Roboto Mono"/>
                <a:ea typeface="Roboto Mono"/>
                <a:cs typeface="Roboto Mono"/>
                <a:sym typeface="Roboto Mono"/>
              </a:rPr>
              <a:t> state = session.</a:t>
            </a:r>
            <a:r>
              <a:rPr b="1" lang="en-US" sz="1350">
                <a:solidFill>
                  <a:srgbClr val="8AB4F8"/>
                </a:solidFill>
                <a:latin typeface="Roboto Mono"/>
                <a:ea typeface="Roboto Mono"/>
                <a:cs typeface="Roboto Mono"/>
                <a:sym typeface="Roboto Mono"/>
              </a:rPr>
              <a:t>captureState</a:t>
            </a:r>
            <a:r>
              <a:rPr lang="en-US" sz="1350">
                <a:solidFill>
                  <a:srgbClr val="E8EAED"/>
                </a:solidFill>
                <a:latin typeface="Roboto Mono"/>
                <a:ea typeface="Roboto Mono"/>
                <a:cs typeface="Roboto Mono"/>
                <a:sym typeface="Roboto Mono"/>
              </a:rPr>
              <a:t>(audioCtx); </a:t>
            </a:r>
            <a:r>
              <a:rPr lang="en-US" sz="1350">
                <a:solidFill>
                  <a:srgbClr val="9AA0A6"/>
                </a:solidFill>
                <a:latin typeface="Roboto Mono"/>
                <a:ea typeface="Roboto Mono"/>
                <a:cs typeface="Roboto Mono"/>
                <a:sym typeface="Roboto Mono"/>
              </a:rPr>
              <a:t>// times in AudioContext time</a:t>
            </a:r>
            <a:endParaRPr sz="1350">
              <a:solidFill>
                <a:srgbClr val="9AA0A6"/>
              </a:solidFill>
              <a:latin typeface="Roboto Mono"/>
              <a:ea typeface="Roboto Mono"/>
              <a:cs typeface="Roboto Mono"/>
              <a:sym typeface="Roboto Mono"/>
            </a:endParaRPr>
          </a:p>
          <a:p>
            <a:pPr indent="0" lvl="0" marL="0" rtl="0" algn="l">
              <a:lnSpc>
                <a:spcPct val="125000"/>
              </a:lnSpc>
              <a:spcBef>
                <a:spcPts val="0"/>
              </a:spcBef>
              <a:spcAft>
                <a:spcPts val="0"/>
              </a:spcAft>
              <a:buNone/>
            </a:pPr>
            <a:r>
              <a:t/>
            </a:r>
            <a:endParaRPr sz="1350">
              <a:solidFill>
                <a:srgbClr val="9AA0A6"/>
              </a:solidFill>
              <a:latin typeface="Roboto Mono"/>
              <a:ea typeface="Roboto Mono"/>
              <a:cs typeface="Roboto Mono"/>
              <a:sym typeface="Roboto Mono"/>
            </a:endParaRPr>
          </a:p>
          <a:p>
            <a:pPr indent="0" lvl="0" marL="0" rtl="0" algn="l">
              <a:lnSpc>
                <a:spcPct val="125000"/>
              </a:lnSpc>
              <a:spcBef>
                <a:spcPts val="0"/>
              </a:spcBef>
              <a:spcAft>
                <a:spcPts val="0"/>
              </a:spcAft>
              <a:buNone/>
            </a:pPr>
            <a:r>
              <a:rPr lang="en-US" sz="1350">
                <a:solidFill>
                  <a:srgbClr val="9AA0A6"/>
                </a:solidFill>
                <a:latin typeface="Roboto Mono"/>
                <a:ea typeface="Roboto Mono"/>
                <a:cs typeface="Roboto Mono"/>
                <a:sym typeface="Roboto Mono"/>
              </a:rPr>
              <a:t>// Schedule the next downbeat</a:t>
            </a:r>
            <a:endParaRPr sz="1350">
              <a:solidFill>
                <a:srgbClr val="9AA0A6"/>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en-US" sz="1350">
                <a:solidFill>
                  <a:srgbClr val="FF7B72"/>
                </a:solidFill>
                <a:latin typeface="Roboto Mono"/>
                <a:ea typeface="Roboto Mono"/>
                <a:cs typeface="Roboto Mono"/>
                <a:sym typeface="Roboto Mono"/>
              </a:rPr>
              <a:t>const</a:t>
            </a:r>
            <a:r>
              <a:rPr lang="en-US" sz="1350">
                <a:solidFill>
                  <a:srgbClr val="E8EAED"/>
                </a:solidFill>
                <a:latin typeface="Roboto Mono"/>
                <a:ea typeface="Roboto Mono"/>
                <a:cs typeface="Roboto Mono"/>
                <a:sym typeface="Roboto Mono"/>
              </a:rPr>
              <a:t> bar = Math.ceil(state.</a:t>
            </a:r>
            <a:r>
              <a:rPr b="1" lang="en-US" sz="1350">
                <a:solidFill>
                  <a:srgbClr val="8AB4F8"/>
                </a:solidFill>
                <a:latin typeface="Roboto Mono"/>
                <a:ea typeface="Roboto Mono"/>
                <a:cs typeface="Roboto Mono"/>
                <a:sym typeface="Roboto Mono"/>
              </a:rPr>
              <a:t>beatAtTime</a:t>
            </a:r>
            <a:r>
              <a:rPr lang="en-US" sz="1350">
                <a:solidFill>
                  <a:srgbClr val="E8EAED"/>
                </a:solidFill>
                <a:latin typeface="Roboto Mono"/>
                <a:ea typeface="Roboto Mono"/>
                <a:cs typeface="Roboto Mono"/>
                <a:sym typeface="Roboto Mono"/>
              </a:rPr>
              <a:t>(audioCtx.currentTime) / </a:t>
            </a:r>
            <a:r>
              <a:rPr b="1" lang="en-US" sz="1350">
                <a:solidFill>
                  <a:srgbClr val="81C995"/>
                </a:solidFill>
                <a:latin typeface="Roboto Mono"/>
                <a:ea typeface="Roboto Mono"/>
                <a:cs typeface="Roboto Mono"/>
                <a:sym typeface="Roboto Mono"/>
              </a:rPr>
              <a:t>4</a:t>
            </a:r>
            <a:r>
              <a:rPr lang="en-US" sz="1350">
                <a:solidFill>
                  <a:srgbClr val="E8EAED"/>
                </a:solidFill>
                <a:latin typeface="Roboto Mono"/>
                <a:ea typeface="Roboto Mono"/>
                <a:cs typeface="Roboto Mono"/>
                <a:sym typeface="Roboto Mono"/>
              </a:rPr>
              <a:t>) * </a:t>
            </a:r>
            <a:r>
              <a:rPr b="1" lang="en-US" sz="1350">
                <a:solidFill>
                  <a:srgbClr val="81C995"/>
                </a:solidFill>
                <a:latin typeface="Roboto Mono"/>
                <a:ea typeface="Roboto Mono"/>
                <a:cs typeface="Roboto Mono"/>
                <a:sym typeface="Roboto Mono"/>
              </a:rPr>
              <a:t>4</a:t>
            </a:r>
            <a:r>
              <a:rPr lang="en-US" sz="1350">
                <a:solidFill>
                  <a:srgbClr val="E8EAED"/>
                </a:solidFill>
                <a:latin typeface="Roboto Mono"/>
                <a:ea typeface="Roboto Mono"/>
                <a:cs typeface="Roboto Mono"/>
                <a:sym typeface="Roboto Mono"/>
              </a:rPr>
              <a:t>;</a:t>
            </a:r>
            <a:endParaRPr sz="1350">
              <a:solidFill>
                <a:srgbClr val="E8EAED"/>
              </a:solidFill>
              <a:latin typeface="Roboto Mono"/>
              <a:ea typeface="Roboto Mono"/>
              <a:cs typeface="Roboto Mono"/>
              <a:sym typeface="Roboto Mono"/>
            </a:endParaRPr>
          </a:p>
          <a:p>
            <a:pPr indent="0" lvl="0" marL="0" rtl="0" algn="l">
              <a:lnSpc>
                <a:spcPct val="125000"/>
              </a:lnSpc>
              <a:spcBef>
                <a:spcPts val="0"/>
              </a:spcBef>
              <a:spcAft>
                <a:spcPts val="0"/>
              </a:spcAft>
              <a:buNone/>
            </a:pPr>
            <a:r>
              <a:rPr lang="en-US" sz="1350">
                <a:solidFill>
                  <a:srgbClr val="E8EAED"/>
                </a:solidFill>
                <a:latin typeface="Roboto Mono"/>
                <a:ea typeface="Roboto Mono"/>
                <a:cs typeface="Roboto Mono"/>
                <a:sym typeface="Roboto Mono"/>
              </a:rPr>
              <a:t>playKick(state.</a:t>
            </a:r>
            <a:r>
              <a:rPr b="1" lang="en-US" sz="1350">
                <a:solidFill>
                  <a:srgbClr val="8AB4F8"/>
                </a:solidFill>
                <a:latin typeface="Roboto Mono"/>
                <a:ea typeface="Roboto Mono"/>
                <a:cs typeface="Roboto Mono"/>
                <a:sym typeface="Roboto Mono"/>
              </a:rPr>
              <a:t>timeAtBeat</a:t>
            </a:r>
            <a:r>
              <a:rPr lang="en-US" sz="1350">
                <a:solidFill>
                  <a:srgbClr val="E8EAED"/>
                </a:solidFill>
                <a:latin typeface="Roboto Mono"/>
                <a:ea typeface="Roboto Mono"/>
                <a:cs typeface="Roboto Mono"/>
                <a:sym typeface="Roboto Mono"/>
              </a:rPr>
              <a:t>(bar));</a:t>
            </a:r>
            <a:endParaRPr sz="1350">
              <a:solidFill>
                <a:srgbClr val="E8EAED"/>
              </a:solidFill>
              <a:latin typeface="Roboto Mono"/>
              <a:ea typeface="Roboto Mono"/>
              <a:cs typeface="Roboto Mono"/>
              <a:sym typeface="Roboto Mono"/>
            </a:endParaRPr>
          </a:p>
          <a:p>
            <a:pPr indent="0" lvl="0" marL="0" rtl="0" algn="l">
              <a:lnSpc>
                <a:spcPct val="125000"/>
              </a:lnSpc>
              <a:spcBef>
                <a:spcPts val="0"/>
              </a:spcBef>
              <a:spcAft>
                <a:spcPts val="0"/>
              </a:spcAft>
              <a:buNone/>
            </a:pPr>
            <a:r>
              <a:t/>
            </a:r>
            <a:endParaRPr sz="1350">
              <a:solidFill>
                <a:srgbClr val="E8EAED"/>
              </a:solidFill>
              <a:latin typeface="Roboto Mono"/>
              <a:ea typeface="Roboto Mono"/>
              <a:cs typeface="Roboto Mono"/>
              <a:sym typeface="Roboto Mono"/>
            </a:endParaRPr>
          </a:p>
          <a:p>
            <a:pPr indent="0" lvl="0" marL="0" rtl="0" algn="l">
              <a:lnSpc>
                <a:spcPct val="125000"/>
              </a:lnSpc>
              <a:spcBef>
                <a:spcPts val="0"/>
              </a:spcBef>
              <a:spcAft>
                <a:spcPts val="0"/>
              </a:spcAft>
              <a:buNone/>
            </a:pPr>
            <a:r>
              <a:rPr lang="en-US" sz="1350">
                <a:solidFill>
                  <a:srgbClr val="9AA0A6"/>
                </a:solidFill>
                <a:latin typeface="Roboto Mono"/>
                <a:ea typeface="Roboto Mono"/>
                <a:cs typeface="Roboto Mono"/>
                <a:sym typeface="Roboto Mono"/>
              </a:rPr>
              <a:t>// Change the tempo for everyone in the room</a:t>
            </a:r>
            <a:endParaRPr sz="1350">
              <a:solidFill>
                <a:srgbClr val="9AA0A6"/>
              </a:solidFill>
              <a:latin typeface="Roboto Mono"/>
              <a:ea typeface="Roboto Mono"/>
              <a:cs typeface="Roboto Mono"/>
              <a:sym typeface="Roboto Mono"/>
            </a:endParaRPr>
          </a:p>
          <a:p>
            <a:pPr indent="0" lvl="0" marL="0" rtl="0" algn="l">
              <a:lnSpc>
                <a:spcPct val="125000"/>
              </a:lnSpc>
              <a:spcBef>
                <a:spcPts val="0"/>
              </a:spcBef>
              <a:spcAft>
                <a:spcPts val="0"/>
              </a:spcAft>
              <a:buNone/>
            </a:pPr>
            <a:r>
              <a:rPr lang="en-US" sz="1350">
                <a:solidFill>
                  <a:srgbClr val="E8EAED"/>
                </a:solidFill>
                <a:latin typeface="Roboto Mono"/>
                <a:ea typeface="Roboto Mono"/>
                <a:cs typeface="Roboto Mono"/>
                <a:sym typeface="Roboto Mono"/>
              </a:rPr>
              <a:t>state.</a:t>
            </a:r>
            <a:r>
              <a:rPr b="1" lang="en-US" sz="1350">
                <a:solidFill>
                  <a:srgbClr val="8AB4F8"/>
                </a:solidFill>
                <a:latin typeface="Roboto Mono"/>
                <a:ea typeface="Roboto Mono"/>
                <a:cs typeface="Roboto Mono"/>
                <a:sym typeface="Roboto Mono"/>
              </a:rPr>
              <a:t>setTempo</a:t>
            </a:r>
            <a:r>
              <a:rPr lang="en-US" sz="1350">
                <a:solidFill>
                  <a:srgbClr val="E8EAED"/>
                </a:solidFill>
                <a:latin typeface="Roboto Mono"/>
                <a:ea typeface="Roboto Mono"/>
                <a:cs typeface="Roboto Mono"/>
                <a:sym typeface="Roboto Mono"/>
              </a:rPr>
              <a:t>(</a:t>
            </a:r>
            <a:r>
              <a:rPr b="1" lang="en-US" sz="1350">
                <a:solidFill>
                  <a:srgbClr val="81C995"/>
                </a:solidFill>
                <a:latin typeface="Roboto Mono"/>
                <a:ea typeface="Roboto Mono"/>
                <a:cs typeface="Roboto Mono"/>
                <a:sym typeface="Roboto Mono"/>
              </a:rPr>
              <a:t>128</a:t>
            </a:r>
            <a:r>
              <a:rPr lang="en-US" sz="1350">
                <a:solidFill>
                  <a:srgbClr val="E8EAED"/>
                </a:solidFill>
                <a:latin typeface="Roboto Mono"/>
                <a:ea typeface="Roboto Mono"/>
                <a:cs typeface="Roboto Mono"/>
                <a:sym typeface="Roboto Mono"/>
              </a:rPr>
              <a:t>, audioCtx.currentTime);</a:t>
            </a:r>
            <a:endParaRPr sz="1350">
              <a:solidFill>
                <a:srgbClr val="E8EAED"/>
              </a:solidFill>
              <a:latin typeface="Roboto Mono"/>
              <a:ea typeface="Roboto Mono"/>
              <a:cs typeface="Roboto Mono"/>
              <a:sym typeface="Roboto Mono"/>
            </a:endParaRPr>
          </a:p>
          <a:p>
            <a:pPr indent="0" lvl="0" marL="0" rtl="0" algn="l">
              <a:lnSpc>
                <a:spcPct val="125000"/>
              </a:lnSpc>
              <a:spcBef>
                <a:spcPts val="0"/>
              </a:spcBef>
              <a:spcAft>
                <a:spcPts val="0"/>
              </a:spcAft>
              <a:buNone/>
            </a:pPr>
            <a:r>
              <a:rPr lang="en-US" sz="1350">
                <a:solidFill>
                  <a:srgbClr val="E8EAED"/>
                </a:solidFill>
                <a:latin typeface="Roboto Mono"/>
                <a:ea typeface="Roboto Mono"/>
                <a:cs typeface="Roboto Mono"/>
                <a:sym typeface="Roboto Mono"/>
              </a:rPr>
              <a:t>session.</a:t>
            </a:r>
            <a:r>
              <a:rPr b="1" lang="en-US" sz="1350">
                <a:solidFill>
                  <a:srgbClr val="8AB4F8"/>
                </a:solidFill>
                <a:latin typeface="Roboto Mono"/>
                <a:ea typeface="Roboto Mono"/>
                <a:cs typeface="Roboto Mono"/>
                <a:sym typeface="Roboto Mono"/>
              </a:rPr>
              <a:t>commitState</a:t>
            </a:r>
            <a:r>
              <a:rPr lang="en-US" sz="1350">
                <a:solidFill>
                  <a:srgbClr val="E8EAED"/>
                </a:solidFill>
                <a:latin typeface="Roboto Mono"/>
                <a:ea typeface="Roboto Mono"/>
                <a:cs typeface="Roboto Mono"/>
                <a:sym typeface="Roboto Mono"/>
              </a:rPr>
              <a:t>(state);</a:t>
            </a:r>
            <a:endParaRPr sz="1350">
              <a:solidFill>
                <a:srgbClr val="E8EAED"/>
              </a:solidFill>
              <a:latin typeface="Roboto Mono"/>
              <a:ea typeface="Roboto Mono"/>
              <a:cs typeface="Roboto Mono"/>
              <a:sym typeface="Roboto Mono"/>
            </a:endParaRPr>
          </a:p>
        </p:txBody>
      </p:sp>
      <p:sp>
        <p:nvSpPr>
          <p:cNvPr id="119" name="Google Shape;119;p7"/>
          <p:cNvSpPr/>
          <p:nvPr/>
        </p:nvSpPr>
        <p:spPr>
          <a:xfrm>
            <a:off x="609600" y="4699000"/>
            <a:ext cx="3479700" cy="13716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7"/>
          <p:cNvSpPr/>
          <p:nvPr/>
        </p:nvSpPr>
        <p:spPr>
          <a:xfrm>
            <a:off x="609600" y="4699000"/>
            <a:ext cx="3479700" cy="50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7"/>
          <p:cNvSpPr/>
          <p:nvPr/>
        </p:nvSpPr>
        <p:spPr>
          <a:xfrm>
            <a:off x="812800" y="4876800"/>
            <a:ext cx="3073500" cy="1041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a:solidFill>
                  <a:srgbClr val="1967D2"/>
                </a:solidFill>
                <a:latin typeface="Roboto Mono"/>
                <a:ea typeface="Roboto Mono"/>
                <a:cs typeface="Roboto Mono"/>
                <a:sym typeface="Roboto Mono"/>
              </a:rPr>
              <a:t>requestSession()</a:t>
            </a:r>
            <a:endParaRPr b="1">
              <a:solidFill>
                <a:srgbClr val="1967D2"/>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One permission prompt. The browser joins the session.</a:t>
            </a:r>
            <a:endParaRPr sz="1350">
              <a:solidFill>
                <a:srgbClr val="3C4043"/>
              </a:solidFill>
              <a:latin typeface="Google Sans Text"/>
              <a:ea typeface="Google Sans Text"/>
              <a:cs typeface="Google Sans Text"/>
              <a:sym typeface="Google Sans Text"/>
            </a:endParaRPr>
          </a:p>
        </p:txBody>
      </p:sp>
      <p:sp>
        <p:nvSpPr>
          <p:cNvPr id="122" name="Google Shape;122;p7"/>
          <p:cNvSpPr/>
          <p:nvPr/>
        </p:nvSpPr>
        <p:spPr>
          <a:xfrm>
            <a:off x="4356100" y="4699000"/>
            <a:ext cx="3479700" cy="13716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7"/>
          <p:cNvSpPr/>
          <p:nvPr/>
        </p:nvSpPr>
        <p:spPr>
          <a:xfrm>
            <a:off x="4356100" y="4699000"/>
            <a:ext cx="3479700" cy="50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7"/>
          <p:cNvSpPr/>
          <p:nvPr/>
        </p:nvSpPr>
        <p:spPr>
          <a:xfrm>
            <a:off x="4559300" y="4876800"/>
            <a:ext cx="3073500" cy="1041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a:solidFill>
                  <a:srgbClr val="1967D2"/>
                </a:solidFill>
                <a:latin typeface="Roboto Mono"/>
                <a:ea typeface="Roboto Mono"/>
                <a:cs typeface="Roboto Mono"/>
                <a:sym typeface="Roboto Mono"/>
              </a:rPr>
              <a:t>captureState()</a:t>
            </a:r>
            <a:endParaRPr b="1">
              <a:solidFill>
                <a:srgbClr val="1967D2"/>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A consistent snapshot: tempo, beats, phase, start/stop.</a:t>
            </a:r>
            <a:endParaRPr sz="1350">
              <a:solidFill>
                <a:srgbClr val="3C4043"/>
              </a:solidFill>
              <a:latin typeface="Google Sans Text"/>
              <a:ea typeface="Google Sans Text"/>
              <a:cs typeface="Google Sans Text"/>
              <a:sym typeface="Google Sans Text"/>
            </a:endParaRPr>
          </a:p>
        </p:txBody>
      </p:sp>
      <p:sp>
        <p:nvSpPr>
          <p:cNvPr id="125" name="Google Shape;125;p7"/>
          <p:cNvSpPr/>
          <p:nvPr/>
        </p:nvSpPr>
        <p:spPr>
          <a:xfrm>
            <a:off x="8102600" y="4699000"/>
            <a:ext cx="3479700" cy="1371600"/>
          </a:xfrm>
          <a:prstGeom prst="rect">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7"/>
          <p:cNvSpPr/>
          <p:nvPr/>
        </p:nvSpPr>
        <p:spPr>
          <a:xfrm>
            <a:off x="8102600" y="4699000"/>
            <a:ext cx="3479700" cy="507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7"/>
          <p:cNvSpPr/>
          <p:nvPr/>
        </p:nvSpPr>
        <p:spPr>
          <a:xfrm>
            <a:off x="8305800" y="4876800"/>
            <a:ext cx="3073500" cy="1041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US">
                <a:solidFill>
                  <a:srgbClr val="1967D2"/>
                </a:solidFill>
                <a:latin typeface="Roboto Mono"/>
                <a:ea typeface="Roboto Mono"/>
                <a:cs typeface="Roboto Mono"/>
                <a:sym typeface="Roboto Mono"/>
              </a:rPr>
              <a:t>commitState()</a:t>
            </a:r>
            <a:endParaRPr b="1">
              <a:solidFill>
                <a:srgbClr val="1967D2"/>
              </a:solidFill>
              <a:latin typeface="Roboto Mono"/>
              <a:ea typeface="Roboto Mono"/>
              <a:cs typeface="Roboto Mono"/>
              <a:sym typeface="Roboto Mono"/>
            </a:endParaRPr>
          </a:p>
          <a:p>
            <a:pPr indent="0" lvl="0" marL="0" rtl="0" algn="l">
              <a:lnSpc>
                <a:spcPct val="130000"/>
              </a:lnSpc>
              <a:spcBef>
                <a:spcPts val="0"/>
              </a:spcBef>
              <a:spcAft>
                <a:spcPts val="0"/>
              </a:spcAft>
              <a:buNone/>
            </a:pPr>
            <a:r>
              <a:rPr lang="en-US" sz="1350">
                <a:solidFill>
                  <a:srgbClr val="3C4043"/>
                </a:solidFill>
                <a:latin typeface="Google Sans Text"/>
                <a:ea typeface="Google Sans Text"/>
                <a:cs typeface="Google Sans Text"/>
                <a:sym typeface="Google Sans Text"/>
              </a:rPr>
              <a:t>Share what you changed, and only that.</a:t>
            </a:r>
            <a:endParaRPr sz="1350">
              <a:solidFill>
                <a:srgbClr val="3C4043"/>
              </a:solidFill>
              <a:latin typeface="Google Sans Text"/>
              <a:ea typeface="Google Sans Text"/>
              <a:cs typeface="Google Sans Text"/>
              <a:sym typeface="Google Sans Text"/>
            </a:endParaRPr>
          </a:p>
        </p:txBody>
      </p:sp>
      <p:sp>
        <p:nvSpPr>
          <p:cNvPr id="128" name="Google Shape;128;p7"/>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7"/>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130" name="Google Shape;130;p7"/>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05</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8"/>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8"/>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8"/>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8"/>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8"/>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05  ·  ARCHITECTURAL DECISIONS</a:t>
            </a:r>
            <a:endParaRPr b="1" sz="1100">
              <a:solidFill>
                <a:srgbClr val="1967D2"/>
              </a:solidFill>
              <a:latin typeface="Google Sans"/>
              <a:ea typeface="Google Sans"/>
              <a:cs typeface="Google Sans"/>
              <a:sym typeface="Google Sans"/>
            </a:endParaRPr>
          </a:p>
        </p:txBody>
      </p:sp>
      <p:sp>
        <p:nvSpPr>
          <p:cNvPr id="141" name="Google Shape;141;p8"/>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What the design commits to</a:t>
            </a:r>
            <a:endParaRPr b="1" sz="3400">
              <a:solidFill>
                <a:srgbClr val="202124"/>
              </a:solidFill>
              <a:latin typeface="Google Sans"/>
              <a:ea typeface="Google Sans"/>
              <a:cs typeface="Google Sans"/>
              <a:sym typeface="Google Sans"/>
            </a:endParaRPr>
          </a:p>
        </p:txBody>
      </p:sp>
      <p:graphicFrame>
        <p:nvGraphicFramePr>
          <p:cNvPr id="142" name="Google Shape;142;p8"/>
          <p:cNvGraphicFramePr/>
          <p:nvPr/>
        </p:nvGraphicFramePr>
        <p:xfrm>
          <a:off x="609600" y="1498600"/>
          <a:ext cx="3000000" cy="3000000"/>
        </p:xfrm>
        <a:graphic>
          <a:graphicData uri="http://schemas.openxmlformats.org/drawingml/2006/table">
            <a:tbl>
              <a:tblPr>
                <a:noFill/>
                <a:tableStyleId>{E4253204-26E5-4943-8AAC-259EDA77DE5E}</a:tableStyleId>
              </a:tblPr>
              <a:tblGrid>
                <a:gridCol w="3429000"/>
                <a:gridCol w="7543800"/>
              </a:tblGrid>
              <a:tr h="736600">
                <a:tc>
                  <a:txBody>
                    <a:bodyPr/>
                    <a:lstStyle/>
                    <a:p>
                      <a:pPr indent="0" lvl="0" marL="0" rtl="0" algn="l">
                        <a:spcBef>
                          <a:spcPts val="0"/>
                        </a:spcBef>
                        <a:spcAft>
                          <a:spcPts val="0"/>
                        </a:spcAft>
                        <a:buNone/>
                      </a:pPr>
                      <a:r>
                        <a:rPr b="1" lang="en-US" sz="1350">
                          <a:solidFill>
                            <a:srgbClr val="FFFFFF"/>
                          </a:solidFill>
                          <a:latin typeface="Google Sans"/>
                          <a:ea typeface="Google Sans"/>
                          <a:cs typeface="Google Sans"/>
                          <a:sym typeface="Google Sans"/>
                        </a:rPr>
                        <a:t>Choice</a:t>
                      </a:r>
                      <a:endParaRPr b="1" sz="1350">
                        <a:solidFill>
                          <a:srgbClr val="FFFFFF"/>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1967D2"/>
                    </a:solidFill>
                  </a:tcPr>
                </a:tc>
                <a:tc>
                  <a:txBody>
                    <a:bodyPr/>
                    <a:lstStyle/>
                    <a:p>
                      <a:pPr indent="0" lvl="0" marL="0" rtl="0" algn="l">
                        <a:spcBef>
                          <a:spcPts val="0"/>
                        </a:spcBef>
                        <a:spcAft>
                          <a:spcPts val="0"/>
                        </a:spcAft>
                        <a:buNone/>
                      </a:pPr>
                      <a:r>
                        <a:rPr b="1" lang="en-US" sz="1350">
                          <a:solidFill>
                            <a:srgbClr val="FFFFFF"/>
                          </a:solidFill>
                          <a:latin typeface="Google Sans"/>
                          <a:ea typeface="Google Sans"/>
                          <a:cs typeface="Google Sans"/>
                          <a:sym typeface="Google Sans"/>
                        </a:rPr>
                        <a:t>What it means</a:t>
                      </a:r>
                      <a:endParaRPr b="1" sz="1350">
                        <a:solidFill>
                          <a:srgbClr val="FFFFFF"/>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1967D2"/>
                    </a:solidFill>
                  </a:tcPr>
                </a:tc>
              </a:tr>
              <a:tr h="736600">
                <a:tc>
                  <a:txBody>
                    <a:bodyPr/>
                    <a:lstStyle/>
                    <a:p>
                      <a:pPr indent="0" lvl="0" marL="0" rtl="0" algn="l">
                        <a:spcBef>
                          <a:spcPts val="0"/>
                        </a:spcBef>
                        <a:spcAft>
                          <a:spcPts val="0"/>
                        </a:spcAft>
                        <a:buNone/>
                      </a:pPr>
                      <a:r>
                        <a:rPr b="1" lang="en-US" sz="1350">
                          <a:solidFill>
                            <a:srgbClr val="174EA6"/>
                          </a:solidFill>
                          <a:latin typeface="Google Sans"/>
                          <a:ea typeface="Google Sans"/>
                          <a:cs typeface="Google Sans"/>
                          <a:sym typeface="Google Sans"/>
                        </a:rPr>
                        <a:t>No protocol in the spec</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The spec defines the timeline. Link is how browsers would implement it today.</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r h="736600">
                <a:tc>
                  <a:txBody>
                    <a:bodyPr/>
                    <a:lstStyle/>
                    <a:p>
                      <a:pPr indent="0" lvl="0" marL="0" rtl="0" algn="l">
                        <a:spcBef>
                          <a:spcPts val="0"/>
                        </a:spcBef>
                        <a:spcAft>
                          <a:spcPts val="0"/>
                        </a:spcAft>
                        <a:buNone/>
                      </a:pPr>
                      <a:r>
                        <a:rPr b="1" lang="en-US" sz="1350">
                          <a:solidFill>
                            <a:srgbClr val="174EA6"/>
                          </a:solidFill>
                          <a:latin typeface="Google Sans"/>
                          <a:ea typeface="Google Sans"/>
                          <a:cs typeface="Google Sans"/>
                          <a:sym typeface="Google Sans"/>
                        </a:rPr>
                        <a:t>One bit about the network</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hasPeers: is anyone else here? No count, addresses or device names.</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8F9FA"/>
                    </a:solidFill>
                  </a:tcPr>
                </a:tc>
              </a:tr>
              <a:tr h="736600">
                <a:tc>
                  <a:txBody>
                    <a:bodyPr/>
                    <a:lstStyle/>
                    <a:p>
                      <a:pPr indent="0" lvl="0" marL="0" rtl="0" algn="l">
                        <a:spcBef>
                          <a:spcPts val="0"/>
                        </a:spcBef>
                        <a:spcAft>
                          <a:spcPts val="0"/>
                        </a:spcAft>
                        <a:buNone/>
                      </a:pPr>
                      <a:r>
                        <a:rPr b="1" lang="en-US" sz="1350">
                          <a:solidFill>
                            <a:srgbClr val="174EA6"/>
                          </a:solidFill>
                          <a:latin typeface="Google Sans"/>
                          <a:ea typeface="Google Sans"/>
                          <a:cs typeface="Google Sans"/>
                          <a:sym typeface="Google Sans"/>
                        </a:rPr>
                        <a:t>Shared bar lines, your own beats</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Each page numbers beats its own way; starting a loop waits for the next bar line.</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r h="736600">
                <a:tc>
                  <a:txBody>
                    <a:bodyPr/>
                    <a:lstStyle/>
                    <a:p>
                      <a:pPr indent="0" lvl="0" marL="0" rtl="0" algn="l">
                        <a:spcBef>
                          <a:spcPts val="0"/>
                        </a:spcBef>
                        <a:spcAft>
                          <a:spcPts val="0"/>
                        </a:spcAft>
                        <a:buNone/>
                      </a:pPr>
                      <a:r>
                        <a:rPr b="1" lang="en-US" sz="1350">
                          <a:solidFill>
                            <a:srgbClr val="174EA6"/>
                          </a:solidFill>
                          <a:latin typeface="Google Sans"/>
                          <a:ea typeface="Google Sans"/>
                          <a:cs typeface="Google Sans"/>
                          <a:sym typeface="Google Sans"/>
                        </a:rPr>
                        <a:t>Snapshots, not live properties</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Consistent timing maths; serializable to Workers and AudioWorklets.</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8F9FA"/>
                    </a:solidFill>
                  </a:tcPr>
                </a:tc>
              </a:tr>
              <a:tr h="736600">
                <a:tc>
                  <a:txBody>
                    <a:bodyPr/>
                    <a:lstStyle/>
                    <a:p>
                      <a:pPr indent="0" lvl="0" marL="0" rtl="0" algn="l">
                        <a:spcBef>
                          <a:spcPts val="0"/>
                        </a:spcBef>
                        <a:spcAft>
                          <a:spcPts val="0"/>
                        </a:spcAft>
                        <a:buNone/>
                      </a:pPr>
                      <a:r>
                        <a:rPr b="1" lang="en-US" sz="1350">
                          <a:solidFill>
                            <a:srgbClr val="174EA6"/>
                          </a:solidFill>
                          <a:latin typeface="Google Sans"/>
                          <a:ea typeface="Google Sans"/>
                          <a:cs typeface="Google Sans"/>
                          <a:sym typeface="Google Sans"/>
                        </a:rPr>
                        <a:t>One participant per browser</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However many tabs, and it leaves when nothing is visible or audible.</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143" name="Google Shape;143;p8"/>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8"/>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145" name="Google Shape;145;p8"/>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06</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67D2"/>
        </a:solidFill>
      </p:bgPr>
    </p:bg>
    <p:spTree>
      <p:nvGrpSpPr>
        <p:cNvPr id="150" name="Shape 150"/>
        <p:cNvGrpSpPr/>
        <p:nvPr/>
      </p:nvGrpSpPr>
      <p:grpSpPr>
        <a:xfrm>
          <a:off x="0" y="0"/>
          <a:ext cx="0" cy="0"/>
          <a:chOff x="0" y="0"/>
          <a:chExt cx="0" cy="0"/>
        </a:xfrm>
      </p:grpSpPr>
      <p:sp>
        <p:nvSpPr>
          <p:cNvPr id="151" name="Google Shape;151;p9"/>
          <p:cNvSpPr/>
          <p:nvPr/>
        </p:nvSpPr>
        <p:spPr>
          <a:xfrm>
            <a:off x="0" y="0"/>
            <a:ext cx="3054300" cy="101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9"/>
          <p:cNvSpPr/>
          <p:nvPr/>
        </p:nvSpPr>
        <p:spPr>
          <a:xfrm>
            <a:off x="3048000" y="0"/>
            <a:ext cx="3054300" cy="1017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9"/>
          <p:cNvSpPr/>
          <p:nvPr/>
        </p:nvSpPr>
        <p:spPr>
          <a:xfrm>
            <a:off x="6096000" y="0"/>
            <a:ext cx="3054300" cy="1017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9"/>
          <p:cNvSpPr/>
          <p:nvPr/>
        </p:nvSpPr>
        <p:spPr>
          <a:xfrm>
            <a:off x="9144000" y="0"/>
            <a:ext cx="3048000" cy="101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9"/>
          <p:cNvSpPr/>
          <p:nvPr/>
        </p:nvSpPr>
        <p:spPr>
          <a:xfrm>
            <a:off x="711200" y="863600"/>
            <a:ext cx="2133600" cy="4065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150">
                <a:solidFill>
                  <a:srgbClr val="FFFFFF"/>
                </a:solidFill>
                <a:latin typeface="Google Sans"/>
                <a:ea typeface="Google Sans"/>
                <a:cs typeface="Google Sans"/>
                <a:sym typeface="Google Sans"/>
              </a:rPr>
              <a:t>06  ·  LIVE DEMO</a:t>
            </a:r>
            <a:endParaRPr b="1" sz="1150">
              <a:solidFill>
                <a:srgbClr val="FFFFFF"/>
              </a:solidFill>
              <a:latin typeface="Google Sans"/>
              <a:ea typeface="Google Sans"/>
              <a:cs typeface="Google Sans"/>
              <a:sym typeface="Google Sans"/>
            </a:endParaRPr>
          </a:p>
        </p:txBody>
      </p:sp>
      <p:sp>
        <p:nvSpPr>
          <p:cNvPr id="156" name="Google Shape;156;p9"/>
          <p:cNvSpPr/>
          <p:nvPr/>
        </p:nvSpPr>
        <p:spPr>
          <a:xfrm>
            <a:off x="711200" y="1524000"/>
            <a:ext cx="10769700" cy="13209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6800">
                <a:solidFill>
                  <a:srgbClr val="FFFFFF"/>
                </a:solidFill>
                <a:latin typeface="Google Sans"/>
                <a:ea typeface="Google Sans"/>
                <a:cs typeface="Google Sans"/>
                <a:sym typeface="Google Sans"/>
              </a:rPr>
              <a:t>Play along with Live</a:t>
            </a:r>
            <a:endParaRPr b="1" sz="6800">
              <a:solidFill>
                <a:srgbClr val="FFFFFF"/>
              </a:solidFill>
              <a:latin typeface="Google Sans"/>
              <a:ea typeface="Google Sans"/>
              <a:cs typeface="Google Sans"/>
              <a:sym typeface="Google Sans"/>
            </a:endParaRPr>
          </a:p>
        </p:txBody>
      </p:sp>
      <p:sp>
        <p:nvSpPr>
          <p:cNvPr id="157" name="Google Shape;157;p9"/>
          <p:cNvSpPr/>
          <p:nvPr/>
        </p:nvSpPr>
        <p:spPr>
          <a:xfrm>
            <a:off x="711200" y="2997200"/>
            <a:ext cx="9906000" cy="9651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US" sz="2000">
                <a:solidFill>
                  <a:srgbClr val="E8F0FE"/>
                </a:solidFill>
                <a:latin typeface="Google Sans Text"/>
                <a:ea typeface="Google Sans Text"/>
                <a:cs typeface="Google Sans Text"/>
                <a:sym typeface="Google Sans Text"/>
              </a:rPr>
              <a:t>Prototype Chromium v0.2 and Ableton Live on one laptop. Sampler, Strudel, Hydra, Tone.js and Chrome Music Lab’s Arpeggios, each joining the session on its own.</a:t>
            </a:r>
            <a:endParaRPr sz="2000">
              <a:solidFill>
                <a:srgbClr val="E8F0FE"/>
              </a:solidFill>
              <a:latin typeface="Google Sans Text"/>
              <a:ea typeface="Google Sans Text"/>
              <a:cs typeface="Google Sans Text"/>
              <a:sym typeface="Google Sans Text"/>
            </a:endParaRPr>
          </a:p>
        </p:txBody>
      </p:sp>
      <p:sp>
        <p:nvSpPr>
          <p:cNvPr id="158" name="Google Shape;158;p9"/>
          <p:cNvSpPr/>
          <p:nvPr/>
        </p:nvSpPr>
        <p:spPr>
          <a:xfrm>
            <a:off x="711200" y="4241800"/>
            <a:ext cx="2006700" cy="5079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300">
                <a:solidFill>
                  <a:srgbClr val="FFFFFF"/>
                </a:solidFill>
                <a:uFill>
                  <a:noFill/>
                </a:uFill>
                <a:latin typeface="Google Sans"/>
                <a:ea typeface="Google Sans"/>
                <a:cs typeface="Google Sans"/>
                <a:sym typeface="Google Sans"/>
                <a:hlinkClick r:id="rId3">
                  <a:extLst>
                    <a:ext uri="{A12FA001-AC4F-418D-AE19-62706E023703}">
                      <ahyp:hlinkClr val="tx"/>
                    </a:ext>
                  </a:extLst>
                </a:hlinkClick>
              </a:rPr>
              <a:t>01 · Sampler</a:t>
            </a:r>
            <a:endParaRPr b="1" sz="1300">
              <a:solidFill>
                <a:srgbClr val="FFFFFF"/>
              </a:solidFill>
              <a:latin typeface="Google Sans"/>
              <a:ea typeface="Google Sans"/>
              <a:cs typeface="Google Sans"/>
              <a:sym typeface="Google Sans"/>
            </a:endParaRPr>
          </a:p>
        </p:txBody>
      </p:sp>
      <p:sp>
        <p:nvSpPr>
          <p:cNvPr id="159" name="Google Shape;159;p9"/>
          <p:cNvSpPr/>
          <p:nvPr/>
        </p:nvSpPr>
        <p:spPr>
          <a:xfrm>
            <a:off x="2895600" y="4241800"/>
            <a:ext cx="2006700" cy="5079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300">
                <a:solidFill>
                  <a:srgbClr val="FFFFFF"/>
                </a:solidFill>
                <a:uFill>
                  <a:noFill/>
                </a:uFill>
                <a:latin typeface="Google Sans"/>
                <a:ea typeface="Google Sans"/>
                <a:cs typeface="Google Sans"/>
                <a:sym typeface="Google Sans"/>
                <a:hlinkClick r:id="rId4">
                  <a:extLst>
                    <a:ext uri="{A12FA001-AC4F-418D-AE19-62706E023703}">
                      <ahyp:hlinkClr val="tx"/>
                    </a:ext>
                  </a:extLst>
                </a:hlinkClick>
              </a:rPr>
              <a:t>02 · Strudel</a:t>
            </a:r>
            <a:endParaRPr b="1" sz="1300">
              <a:solidFill>
                <a:srgbClr val="FFFFFF"/>
              </a:solidFill>
              <a:latin typeface="Google Sans"/>
              <a:ea typeface="Google Sans"/>
              <a:cs typeface="Google Sans"/>
              <a:sym typeface="Google Sans"/>
            </a:endParaRPr>
          </a:p>
        </p:txBody>
      </p:sp>
      <p:sp>
        <p:nvSpPr>
          <p:cNvPr id="160" name="Google Shape;160;p9"/>
          <p:cNvSpPr/>
          <p:nvPr/>
        </p:nvSpPr>
        <p:spPr>
          <a:xfrm>
            <a:off x="5080000" y="4241800"/>
            <a:ext cx="2006700" cy="5079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300">
                <a:solidFill>
                  <a:srgbClr val="FFFFFF"/>
                </a:solidFill>
                <a:uFill>
                  <a:noFill/>
                </a:uFill>
                <a:latin typeface="Google Sans"/>
                <a:ea typeface="Google Sans"/>
                <a:cs typeface="Google Sans"/>
                <a:sym typeface="Google Sans"/>
                <a:hlinkClick r:id="rId5">
                  <a:extLst>
                    <a:ext uri="{A12FA001-AC4F-418D-AE19-62706E023703}">
                      <ahyp:hlinkClr val="tx"/>
                    </a:ext>
                  </a:extLst>
                </a:hlinkClick>
              </a:rPr>
              <a:t>03 · Hydra</a:t>
            </a:r>
            <a:endParaRPr b="1" sz="1300">
              <a:solidFill>
                <a:srgbClr val="FFFFFF"/>
              </a:solidFill>
              <a:latin typeface="Google Sans"/>
              <a:ea typeface="Google Sans"/>
              <a:cs typeface="Google Sans"/>
              <a:sym typeface="Google Sans"/>
            </a:endParaRPr>
          </a:p>
        </p:txBody>
      </p:sp>
      <p:sp>
        <p:nvSpPr>
          <p:cNvPr id="161" name="Google Shape;161;p9"/>
          <p:cNvSpPr/>
          <p:nvPr/>
        </p:nvSpPr>
        <p:spPr>
          <a:xfrm>
            <a:off x="7264400" y="4241800"/>
            <a:ext cx="2006700" cy="5079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300">
                <a:solidFill>
                  <a:srgbClr val="FFFFFF"/>
                </a:solidFill>
                <a:uFill>
                  <a:noFill/>
                </a:uFill>
                <a:latin typeface="Google Sans"/>
                <a:ea typeface="Google Sans"/>
                <a:cs typeface="Google Sans"/>
                <a:sym typeface="Google Sans"/>
                <a:hlinkClick r:id="rId6">
                  <a:extLst>
                    <a:ext uri="{A12FA001-AC4F-418D-AE19-62706E023703}">
                      <ahyp:hlinkClr val="tx"/>
                    </a:ext>
                  </a:extLst>
                </a:hlinkClick>
              </a:rPr>
              <a:t>04 · Tone.js</a:t>
            </a:r>
            <a:endParaRPr b="1" sz="1300">
              <a:solidFill>
                <a:srgbClr val="FFFFFF"/>
              </a:solidFill>
              <a:latin typeface="Google Sans"/>
              <a:ea typeface="Google Sans"/>
              <a:cs typeface="Google Sans"/>
              <a:sym typeface="Google Sans"/>
            </a:endParaRPr>
          </a:p>
        </p:txBody>
      </p:sp>
      <p:sp>
        <p:nvSpPr>
          <p:cNvPr id="162" name="Google Shape;162;p9"/>
          <p:cNvSpPr/>
          <p:nvPr/>
        </p:nvSpPr>
        <p:spPr>
          <a:xfrm>
            <a:off x="9448800" y="4241800"/>
            <a:ext cx="2006700" cy="507900"/>
          </a:xfrm>
          <a:prstGeom prst="roundRect">
            <a:avLst>
              <a:gd fmla="val 16667" name="adj"/>
            </a:avLst>
          </a:prstGeom>
          <a:solidFill>
            <a:srgbClr val="174EA6"/>
          </a:solidFill>
          <a:ln cap="flat" cmpd="sng" w="12700">
            <a:solidFill>
              <a:srgbClr val="8AB4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300">
                <a:solidFill>
                  <a:srgbClr val="FFFFFF"/>
                </a:solidFill>
                <a:uFill>
                  <a:noFill/>
                </a:uFill>
                <a:latin typeface="Google Sans"/>
                <a:ea typeface="Google Sans"/>
                <a:cs typeface="Google Sans"/>
                <a:sym typeface="Google Sans"/>
                <a:hlinkClick r:id="rId7">
                  <a:extLst>
                    <a:ext uri="{A12FA001-AC4F-418D-AE19-62706E023703}">
                      <ahyp:hlinkClr val="tx"/>
                    </a:ext>
                  </a:extLst>
                </a:hlinkClick>
              </a:rPr>
              <a:t>05 · Arpeggios</a:t>
            </a:r>
            <a:endParaRPr b="1" sz="1300">
              <a:solidFill>
                <a:srgbClr val="FFFFFF"/>
              </a:solidFill>
              <a:latin typeface="Google Sans"/>
              <a:ea typeface="Google Sans"/>
              <a:cs typeface="Google Sans"/>
              <a:sym typeface="Google Sans"/>
            </a:endParaRPr>
          </a:p>
        </p:txBody>
      </p:sp>
      <p:sp>
        <p:nvSpPr>
          <p:cNvPr id="163" name="Google Shape;163;p9"/>
          <p:cNvSpPr/>
          <p:nvPr/>
        </p:nvSpPr>
        <p:spPr>
          <a:xfrm>
            <a:off x="711200" y="5130800"/>
            <a:ext cx="5460900" cy="584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rPr b="1" lang="en-US" sz="1500">
                <a:solidFill>
                  <a:srgbClr val="1967D2"/>
                </a:solidFill>
                <a:latin typeface="Google Sans"/>
                <a:ea typeface="Google Sans"/>
                <a:cs typeface="Google Sans"/>
                <a:sym typeface="Google Sans"/>
              </a:rPr>
              <a:t>↗  </a:t>
            </a:r>
            <a:r>
              <a:rPr b="1" lang="en-US">
                <a:solidFill>
                  <a:srgbClr val="174EA6"/>
                </a:solidFill>
                <a:uFill>
                  <a:noFill/>
                </a:uFill>
                <a:latin typeface="Roboto Mono"/>
                <a:ea typeface="Roboto Mono"/>
                <a:cs typeface="Roboto Mono"/>
                <a:sym typeface="Roboto Mono"/>
                <a:hlinkClick r:id="rId8">
                  <a:extLst>
                    <a:ext uri="{A12FA001-AC4F-418D-AE19-62706E023703}">
                      <ahyp:hlinkClr val="tx"/>
                    </a:ext>
                  </a:extLst>
                </a:hlinkClick>
              </a:rPr>
              <a:t>baylesj.github.io/web-tempo-sync-demo</a:t>
            </a:r>
            <a:endParaRPr b="1">
              <a:solidFill>
                <a:srgbClr val="174EA6"/>
              </a:solidFill>
              <a:latin typeface="Roboto Mono"/>
              <a:ea typeface="Roboto Mono"/>
              <a:cs typeface="Roboto Mono"/>
              <a:sym typeface="Roboto Mono"/>
            </a:endParaRPr>
          </a:p>
        </p:txBody>
      </p:sp>
      <p:sp>
        <p:nvSpPr>
          <p:cNvPr id="164" name="Google Shape;164;p9"/>
          <p:cNvSpPr/>
          <p:nvPr/>
        </p:nvSpPr>
        <p:spPr>
          <a:xfrm>
            <a:off x="609600" y="6273800"/>
            <a:ext cx="10972800" cy="10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9"/>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D2E3FC"/>
                </a:solidFill>
                <a:latin typeface="Google Sans Text"/>
                <a:ea typeface="Google Sans Text"/>
                <a:cs typeface="Google Sans Text"/>
                <a:sym typeface="Google Sans Text"/>
              </a:rPr>
              <a:t>Google Chrome  ·  W3C Audio Community Group  ·  TPAC 2026</a:t>
            </a:r>
            <a:endParaRPr sz="1050">
              <a:solidFill>
                <a:srgbClr val="D2E3FC"/>
              </a:solidFill>
              <a:latin typeface="Google Sans Text"/>
              <a:ea typeface="Google Sans Text"/>
              <a:cs typeface="Google Sans Text"/>
              <a:sym typeface="Google Sans Text"/>
            </a:endParaRPr>
          </a:p>
        </p:txBody>
      </p:sp>
      <p:sp>
        <p:nvSpPr>
          <p:cNvPr id="166" name="Google Shape;166;p9"/>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FFFFFF"/>
                </a:solidFill>
                <a:latin typeface="Google Sans"/>
                <a:ea typeface="Google Sans"/>
                <a:cs typeface="Google Sans"/>
                <a:sym typeface="Google Sans"/>
              </a:rPr>
              <a:t>07</a:t>
            </a:r>
            <a:endParaRPr b="1" sz="1050">
              <a:solidFill>
                <a:srgbClr val="FFFFFF"/>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10"/>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0"/>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0"/>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0"/>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0"/>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07  ·  IMPLEMENTATION STATUS</a:t>
            </a:r>
            <a:endParaRPr b="1" sz="1100">
              <a:solidFill>
                <a:srgbClr val="1967D2"/>
              </a:solidFill>
              <a:latin typeface="Google Sans"/>
              <a:ea typeface="Google Sans"/>
              <a:cs typeface="Google Sans"/>
              <a:sym typeface="Google Sans"/>
            </a:endParaRPr>
          </a:p>
        </p:txBody>
      </p:sp>
      <p:sp>
        <p:nvSpPr>
          <p:cNvPr id="177" name="Google Shape;177;p10"/>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Where it stands</a:t>
            </a:r>
            <a:endParaRPr b="1" sz="3400">
              <a:solidFill>
                <a:srgbClr val="202124"/>
              </a:solidFill>
              <a:latin typeface="Google Sans"/>
              <a:ea typeface="Google Sans"/>
              <a:cs typeface="Google Sans"/>
              <a:sym typeface="Google Sans"/>
            </a:endParaRPr>
          </a:p>
        </p:txBody>
      </p:sp>
      <p:graphicFrame>
        <p:nvGraphicFramePr>
          <p:cNvPr id="178" name="Google Shape;178;p10"/>
          <p:cNvGraphicFramePr/>
          <p:nvPr/>
        </p:nvGraphicFramePr>
        <p:xfrm>
          <a:off x="609600" y="1447800"/>
          <a:ext cx="3000000" cy="3000000"/>
        </p:xfrm>
        <a:graphic>
          <a:graphicData uri="http://schemas.openxmlformats.org/drawingml/2006/table">
            <a:tbl>
              <a:tblPr>
                <a:noFill/>
                <a:tableStyleId>{E4253204-26E5-4943-8AAC-259EDA77DE5E}</a:tableStyleId>
              </a:tblPr>
              <a:tblGrid>
                <a:gridCol w="3048000"/>
                <a:gridCol w="7924800"/>
              </a:tblGrid>
              <a:tr h="651925">
                <a:tc>
                  <a:txBody>
                    <a:bodyPr/>
                    <a:lstStyle/>
                    <a:p>
                      <a:pPr indent="0" lvl="0" marL="0" rtl="0" algn="l">
                        <a:spcBef>
                          <a:spcPts val="0"/>
                        </a:spcBef>
                        <a:spcAft>
                          <a:spcPts val="0"/>
                        </a:spcAft>
                        <a:buNone/>
                      </a:pPr>
                      <a:r>
                        <a:rPr b="1" lang="en-US" sz="1350">
                          <a:solidFill>
                            <a:srgbClr val="FFFFFF"/>
                          </a:solidFill>
                          <a:latin typeface="Google Sans"/>
                          <a:ea typeface="Google Sans"/>
                          <a:cs typeface="Google Sans"/>
                          <a:sym typeface="Google Sans"/>
                        </a:rPr>
                        <a:t>Piece</a:t>
                      </a:r>
                      <a:endParaRPr b="1" sz="1350">
                        <a:solidFill>
                          <a:srgbClr val="FFFFFF"/>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1967D2"/>
                    </a:solidFill>
                  </a:tcPr>
                </a:tc>
                <a:tc>
                  <a:txBody>
                    <a:bodyPr/>
                    <a:lstStyle/>
                    <a:p>
                      <a:pPr indent="0" lvl="0" marL="0" rtl="0" algn="l">
                        <a:spcBef>
                          <a:spcPts val="0"/>
                        </a:spcBef>
                        <a:spcAft>
                          <a:spcPts val="0"/>
                        </a:spcAft>
                        <a:buNone/>
                      </a:pPr>
                      <a:r>
                        <a:rPr b="1" lang="en-US" sz="1350">
                          <a:solidFill>
                            <a:srgbClr val="FFFFFF"/>
                          </a:solidFill>
                          <a:latin typeface="Google Sans"/>
                          <a:ea typeface="Google Sans"/>
                          <a:cs typeface="Google Sans"/>
                          <a:sym typeface="Google Sans"/>
                        </a:rPr>
                        <a:t>State</a:t>
                      </a:r>
                      <a:endParaRPr b="1" sz="1350">
                        <a:solidFill>
                          <a:srgbClr val="FFFFFF"/>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1967D2"/>
                    </a:solidFill>
                  </a:tcPr>
                </a:tc>
              </a:tr>
              <a:tr h="651925">
                <a:tc>
                  <a:txBody>
                    <a:bodyPr/>
                    <a:lstStyle/>
                    <a:p>
                      <a:pPr indent="0" lvl="0" marL="0" rtl="0" algn="l">
                        <a:spcBef>
                          <a:spcPts val="0"/>
                        </a:spcBef>
                        <a:spcAft>
                          <a:spcPts val="0"/>
                        </a:spcAft>
                        <a:buNone/>
                      </a:pPr>
                      <a:r>
                        <a:rPr b="1" lang="en-US" sz="1350" u="sng">
                          <a:solidFill>
                            <a:srgbClr val="174EA6"/>
                          </a:solidFill>
                          <a:latin typeface="Google Sans"/>
                          <a:ea typeface="Google Sans"/>
                          <a:cs typeface="Google Sans"/>
                          <a:sym typeface="Google Sans"/>
                          <a:hlinkClick r:id="rId3">
                            <a:extLst>
                              <a:ext uri="{A12FA001-AC4F-418D-AE19-62706E023703}">
                                <ahyp:hlinkClr val="tx"/>
                              </a:ext>
                            </a:extLst>
                          </a:hlinkClick>
                        </a:rPr>
                        <a:t>Spec</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Bikeshed draft, explainer, security and privacy questionnaire, and a list of expected objections</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r h="651925">
                <a:tc>
                  <a:txBody>
                    <a:bodyPr/>
                    <a:lstStyle/>
                    <a:p>
                      <a:pPr indent="0" lvl="0" marL="0" rtl="0" algn="l">
                        <a:spcBef>
                          <a:spcPts val="0"/>
                        </a:spcBef>
                        <a:spcAft>
                          <a:spcPts val="0"/>
                        </a:spcAft>
                        <a:buNone/>
                      </a:pPr>
                      <a:r>
                        <a:rPr b="1" lang="en-US" sz="1350" u="sng">
                          <a:solidFill>
                            <a:srgbClr val="174EA6"/>
                          </a:solidFill>
                          <a:latin typeface="Google Sans"/>
                          <a:ea typeface="Google Sans"/>
                          <a:cs typeface="Google Sans"/>
                          <a:sym typeface="Google Sans"/>
                          <a:hlinkClick r:id="rId4">
                            <a:extLst>
                              <a:ext uri="{A12FA001-AC4F-418D-AE19-62706E023703}">
                                <ahyp:hlinkClr val="tx"/>
                              </a:ext>
                            </a:extLst>
                          </a:hlinkClick>
                        </a:rPr>
                        <a:t>Chromium prototype</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v0.2 behind a flag, macOS on Apple silicon; no permission prompt yet</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8F9FA"/>
                    </a:solidFill>
                  </a:tcPr>
                </a:tc>
              </a:tr>
              <a:tr h="651925">
                <a:tc>
                  <a:txBody>
                    <a:bodyPr/>
                    <a:lstStyle/>
                    <a:p>
                      <a:pPr indent="0" lvl="0" marL="0" rtl="0" algn="l">
                        <a:spcBef>
                          <a:spcPts val="0"/>
                        </a:spcBef>
                        <a:spcAft>
                          <a:spcPts val="0"/>
                        </a:spcAft>
                        <a:buNone/>
                      </a:pPr>
                      <a:r>
                        <a:rPr b="1" lang="en-US" sz="1350" u="sng">
                          <a:solidFill>
                            <a:srgbClr val="174EA6"/>
                          </a:solidFill>
                          <a:latin typeface="Google Sans"/>
                          <a:ea typeface="Google Sans"/>
                          <a:cs typeface="Google Sans"/>
                          <a:sym typeface="Google Sans"/>
                          <a:hlinkClick r:id="rId5">
                            <a:extLst>
                              <a:ext uri="{A12FA001-AC4F-418D-AE19-62706E023703}">
                                <ahyp:hlinkClr val="tx"/>
                              </a:ext>
                            </a:extLst>
                          </a:hlinkClick>
                        </a:rPr>
                        <a:t>Extension and helper</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Stable Chrome on macOS (Linux from source)</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r h="651925">
                <a:tc>
                  <a:txBody>
                    <a:bodyPr/>
                    <a:lstStyle/>
                    <a:p>
                      <a:pPr indent="0" lvl="0" marL="0" rtl="0" algn="l">
                        <a:spcBef>
                          <a:spcPts val="0"/>
                        </a:spcBef>
                        <a:spcAft>
                          <a:spcPts val="0"/>
                        </a:spcAft>
                        <a:buNone/>
                      </a:pPr>
                      <a:r>
                        <a:rPr b="1" lang="en-US" sz="1350" u="sng">
                          <a:solidFill>
                            <a:srgbClr val="174EA6"/>
                          </a:solidFill>
                          <a:latin typeface="Google Sans"/>
                          <a:ea typeface="Google Sans"/>
                          <a:cs typeface="Google Sans"/>
                          <a:sym typeface="Google Sans"/>
                          <a:hlinkClick r:id="rId6">
                            <a:extLst>
                              <a:ext uri="{A12FA001-AC4F-418D-AE19-62706E023703}">
                                <ahyp:hlinkClr val="tx"/>
                              </a:ext>
                            </a:extLst>
                          </a:hlinkClick>
                        </a:rPr>
                        <a:t>Link implementation</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Clean-room, sans-IO Rust; plays with Live</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8F9FA"/>
                    </a:solidFill>
                  </a:tcPr>
                </a:tc>
              </a:tr>
              <a:tr h="651925">
                <a:tc>
                  <a:txBody>
                    <a:bodyPr/>
                    <a:lstStyle/>
                    <a:p>
                      <a:pPr indent="0" lvl="0" marL="0" rtl="0" algn="l">
                        <a:spcBef>
                          <a:spcPts val="0"/>
                        </a:spcBef>
                        <a:spcAft>
                          <a:spcPts val="0"/>
                        </a:spcAft>
                        <a:buNone/>
                      </a:pPr>
                      <a:r>
                        <a:rPr b="1" lang="en-US" sz="1350" u="sng">
                          <a:solidFill>
                            <a:srgbClr val="174EA6"/>
                          </a:solidFill>
                          <a:latin typeface="Google Sans"/>
                          <a:ea typeface="Google Sans"/>
                          <a:cs typeface="Google Sans"/>
                          <a:sym typeface="Google Sans"/>
                          <a:hlinkClick r:id="rId7">
                            <a:extLst>
                              <a:ext uri="{A12FA001-AC4F-418D-AE19-62706E023703}">
                                <ahyp:hlinkClr val="tx"/>
                              </a:ext>
                            </a:extLst>
                          </a:hlinkClick>
                        </a:rPr>
                        <a:t>Demos</a:t>
                      </a:r>
                      <a:endParaRPr b="1" sz="1350">
                        <a:solidFill>
                          <a:srgbClr val="174EA6"/>
                        </a:solidFill>
                        <a:latin typeface="Google Sans"/>
                        <a:ea typeface="Google Sans"/>
                        <a:cs typeface="Google Sans"/>
                        <a:sym typeface="Google Sans"/>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1F3F4"/>
                    </a:solidFill>
                  </a:tcPr>
                </a:tc>
                <a:tc>
                  <a:txBody>
                    <a:bodyPr/>
                    <a:lstStyle/>
                    <a:p>
                      <a:pPr indent="0" lvl="0" marL="0" rtl="0" algn="l">
                        <a:spcBef>
                          <a:spcPts val="0"/>
                        </a:spcBef>
                        <a:spcAft>
                          <a:spcPts val="0"/>
                        </a:spcAft>
                        <a:buNone/>
                      </a:pPr>
                      <a:r>
                        <a:rPr lang="en-US" sz="1350">
                          <a:solidFill>
                            <a:srgbClr val="202124"/>
                          </a:solidFill>
                          <a:latin typeface="Google Sans Text"/>
                          <a:ea typeface="Google Sans Text"/>
                          <a:cs typeface="Google Sans Text"/>
                          <a:sym typeface="Google Sans Text"/>
                        </a:rPr>
                        <a:t>Five tools; a fallback syncs tabs in any browser</a:t>
                      </a:r>
                      <a:endParaRPr sz="1350">
                        <a:solidFill>
                          <a:srgbClr val="202124"/>
                        </a:solidFill>
                        <a:latin typeface="Google Sans Text"/>
                        <a:ea typeface="Google Sans Text"/>
                        <a:cs typeface="Google Sans Text"/>
                        <a:sym typeface="Google Sans Text"/>
                      </a:endParaRPr>
                    </a:p>
                  </a:txBody>
                  <a:tcPr marT="91425" marB="91425" marR="91425" marL="91425" anchor="ctr">
                    <a:lnL cap="flat" cmpd="sng" w="9525">
                      <a:solidFill>
                        <a:srgbClr val="DADCE0"/>
                      </a:solidFill>
                      <a:prstDash val="solid"/>
                      <a:round/>
                      <a:headEnd len="sm" w="sm" type="none"/>
                      <a:tailEnd len="sm" w="sm" type="none"/>
                    </a:lnL>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179" name="Google Shape;179;p10"/>
          <p:cNvSpPr/>
          <p:nvPr/>
        </p:nvSpPr>
        <p:spPr>
          <a:xfrm>
            <a:off x="609600" y="5562600"/>
            <a:ext cx="10972800" cy="507900"/>
          </a:xfrm>
          <a:prstGeom prst="roundRect">
            <a:avLst>
              <a:gd fmla="val 16667" name="adj"/>
            </a:avLst>
          </a:prstGeom>
          <a:solidFill>
            <a:srgbClr val="F8F9FA"/>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a:solidFill>
                  <a:srgbClr val="3C4043"/>
                </a:solidFill>
                <a:latin typeface="Google Sans Text"/>
                <a:ea typeface="Google Sans Text"/>
                <a:cs typeface="Google Sans Text"/>
                <a:sym typeface="Google Sans Text"/>
              </a:rPr>
              <a:t>   All public on GitHub under the topic </a:t>
            </a:r>
            <a:r>
              <a:rPr b="1" lang="en-US" u="sng">
                <a:solidFill>
                  <a:srgbClr val="1967D2"/>
                </a:solidFill>
                <a:latin typeface="Roboto Mono"/>
                <a:ea typeface="Roboto Mono"/>
                <a:cs typeface="Roboto Mono"/>
                <a:sym typeface="Roboto Mono"/>
                <a:hlinkClick r:id="rId8">
                  <a:extLst>
                    <a:ext uri="{A12FA001-AC4F-418D-AE19-62706E023703}">
                      <ahyp:hlinkClr val="tx"/>
                    </a:ext>
                  </a:extLst>
                </a:hlinkClick>
              </a:rPr>
              <a:t>web-tempo-sync</a:t>
            </a:r>
            <a:r>
              <a:rPr lang="en-US">
                <a:solidFill>
                  <a:srgbClr val="3C4043"/>
                </a:solidFill>
                <a:latin typeface="Google Sans Text"/>
                <a:ea typeface="Google Sans Text"/>
                <a:cs typeface="Google Sans Text"/>
                <a:sym typeface="Google Sans Text"/>
              </a:rPr>
              <a:t>.</a:t>
            </a:r>
            <a:endParaRPr>
              <a:solidFill>
                <a:srgbClr val="3C4043"/>
              </a:solidFill>
              <a:latin typeface="Google Sans Text"/>
              <a:ea typeface="Google Sans Text"/>
              <a:cs typeface="Google Sans Text"/>
              <a:sym typeface="Google Sans Text"/>
            </a:endParaRPr>
          </a:p>
        </p:txBody>
      </p:sp>
      <p:sp>
        <p:nvSpPr>
          <p:cNvPr id="180" name="Google Shape;180;p10"/>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0"/>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182" name="Google Shape;182;p10"/>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08</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87" name="Shape 187"/>
        <p:cNvGrpSpPr/>
        <p:nvPr/>
      </p:nvGrpSpPr>
      <p:grpSpPr>
        <a:xfrm>
          <a:off x="0" y="0"/>
          <a:ext cx="0" cy="0"/>
          <a:chOff x="0" y="0"/>
          <a:chExt cx="0" cy="0"/>
        </a:xfrm>
      </p:grpSpPr>
      <p:sp>
        <p:nvSpPr>
          <p:cNvPr id="188" name="Google Shape;188;p11"/>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1"/>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1"/>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1"/>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1"/>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1967D2"/>
                </a:solidFill>
                <a:latin typeface="Google Sans"/>
                <a:ea typeface="Google Sans"/>
                <a:cs typeface="Google Sans"/>
                <a:sym typeface="Google Sans"/>
              </a:rPr>
              <a:t>08  ·  OPEN QUESTIONS</a:t>
            </a:r>
            <a:endParaRPr b="1" sz="1100">
              <a:solidFill>
                <a:srgbClr val="1967D2"/>
              </a:solidFill>
              <a:latin typeface="Google Sans"/>
              <a:ea typeface="Google Sans"/>
              <a:cs typeface="Google Sans"/>
              <a:sym typeface="Google Sans"/>
            </a:endParaRPr>
          </a:p>
        </p:txBody>
      </p:sp>
      <p:sp>
        <p:nvSpPr>
          <p:cNvPr id="193" name="Google Shape;193;p11"/>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202124"/>
                </a:solidFill>
                <a:latin typeface="Google Sans"/>
                <a:ea typeface="Google Sans"/>
                <a:cs typeface="Google Sans"/>
                <a:sym typeface="Google Sans"/>
              </a:rPr>
              <a:t>Open questions</a:t>
            </a:r>
            <a:endParaRPr b="1" sz="3400">
              <a:solidFill>
                <a:srgbClr val="202124"/>
              </a:solidFill>
              <a:latin typeface="Google Sans"/>
              <a:ea typeface="Google Sans"/>
              <a:cs typeface="Google Sans"/>
              <a:sym typeface="Google Sans"/>
            </a:endParaRPr>
          </a:p>
        </p:txBody>
      </p:sp>
      <p:sp>
        <p:nvSpPr>
          <p:cNvPr id="194" name="Google Shape;194;p11"/>
          <p:cNvSpPr/>
          <p:nvPr/>
        </p:nvSpPr>
        <p:spPr>
          <a:xfrm>
            <a:off x="609600" y="1422400"/>
            <a:ext cx="5308500" cy="888900"/>
          </a:xfrm>
          <a:prstGeom prst="rect">
            <a:avLst/>
          </a:prstGeom>
          <a:solidFill>
            <a:srgbClr val="FCE8E6"/>
          </a:solidFill>
          <a:ln cap="flat" cmpd="sng" w="1525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1"/>
          <p:cNvSpPr/>
          <p:nvPr/>
        </p:nvSpPr>
        <p:spPr>
          <a:xfrm>
            <a:off x="609600" y="1422400"/>
            <a:ext cx="63600" cy="8889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1"/>
          <p:cNvSpPr/>
          <p:nvPr/>
        </p:nvSpPr>
        <p:spPr>
          <a:xfrm>
            <a:off x="812800" y="15240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C5221F"/>
                </a:solidFill>
                <a:uFill>
                  <a:noFill/>
                </a:uFill>
                <a:latin typeface="Google Sans"/>
                <a:ea typeface="Google Sans"/>
                <a:cs typeface="Google Sans"/>
                <a:sym typeface="Google Sans"/>
                <a:hlinkClick r:id="rId3">
                  <a:extLst>
                    <a:ext uri="{A12FA001-AC4F-418D-AE19-62706E023703}">
                      <ahyp:hlinkClr val="tx"/>
                    </a:ext>
                  </a:extLst>
                </a:hlinkClick>
              </a:rPr>
              <a:t>#1 Public support.</a:t>
            </a:r>
            <a:r>
              <a:rPr lang="en-US" sz="1350">
                <a:solidFill>
                  <a:srgbClr val="202124"/>
                </a:solidFill>
                <a:latin typeface="Google Sans Text"/>
                <a:ea typeface="Google Sans Text"/>
                <a:cs typeface="Google Sans Text"/>
                <a:sym typeface="Google Sans Text"/>
              </a:rPr>
              <a:t> Known blocker: we need more than one stakeholder saying so.</a:t>
            </a:r>
            <a:endParaRPr sz="1350">
              <a:solidFill>
                <a:srgbClr val="202124"/>
              </a:solidFill>
              <a:latin typeface="Google Sans Text"/>
              <a:ea typeface="Google Sans Text"/>
              <a:cs typeface="Google Sans Text"/>
              <a:sym typeface="Google Sans Text"/>
            </a:endParaRPr>
          </a:p>
        </p:txBody>
      </p:sp>
      <p:sp>
        <p:nvSpPr>
          <p:cNvPr id="197" name="Google Shape;197;p11"/>
          <p:cNvSpPr/>
          <p:nvPr/>
        </p:nvSpPr>
        <p:spPr>
          <a:xfrm>
            <a:off x="6273800" y="14224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1"/>
          <p:cNvSpPr/>
          <p:nvPr/>
        </p:nvSpPr>
        <p:spPr>
          <a:xfrm>
            <a:off x="6273800" y="14224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1"/>
          <p:cNvSpPr/>
          <p:nvPr/>
        </p:nvSpPr>
        <p:spPr>
          <a:xfrm>
            <a:off x="6477000" y="15240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4">
                  <a:extLst>
                    <a:ext uri="{A12FA001-AC4F-418D-AE19-62706E023703}">
                      <ahyp:hlinkClr val="tx"/>
                    </a:ext>
                  </a:extLst>
                </a:hlinkClick>
              </a:rPr>
              <a:t>#2 Protocol and patents.</a:t>
            </a:r>
            <a:r>
              <a:rPr lang="en-US" sz="1350">
                <a:solidFill>
                  <a:srgbClr val="3C4043"/>
                </a:solidFill>
                <a:latin typeface="Google Sans Text"/>
                <a:ea typeface="Google Sans Text"/>
                <a:cs typeface="Google Sans Text"/>
                <a:sym typeface="Google Sans Text"/>
              </a:rPr>
              <a:t> Will Ableton publish a document a standard can cite?</a:t>
            </a:r>
            <a:endParaRPr sz="1350">
              <a:solidFill>
                <a:srgbClr val="3C4043"/>
              </a:solidFill>
              <a:latin typeface="Google Sans Text"/>
              <a:ea typeface="Google Sans Text"/>
              <a:cs typeface="Google Sans Text"/>
              <a:sym typeface="Google Sans Text"/>
            </a:endParaRPr>
          </a:p>
        </p:txBody>
      </p:sp>
      <p:sp>
        <p:nvSpPr>
          <p:cNvPr id="200" name="Google Shape;200;p11"/>
          <p:cNvSpPr/>
          <p:nvPr/>
        </p:nvSpPr>
        <p:spPr>
          <a:xfrm>
            <a:off x="609600" y="24638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11"/>
          <p:cNvSpPr/>
          <p:nvPr/>
        </p:nvSpPr>
        <p:spPr>
          <a:xfrm>
            <a:off x="609600" y="24638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1"/>
          <p:cNvSpPr/>
          <p:nvPr/>
        </p:nvSpPr>
        <p:spPr>
          <a:xfrm>
            <a:off x="812800" y="25654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5">
                  <a:extLst>
                    <a:ext uri="{A12FA001-AC4F-418D-AE19-62706E023703}">
                      <ahyp:hlinkClr val="tx"/>
                    </a:ext>
                  </a:extLst>
                </a:hlinkClick>
              </a:rPr>
              <a:t>#3 Other engines.</a:t>
            </a:r>
            <a:r>
              <a:rPr lang="en-US" sz="1350">
                <a:solidFill>
                  <a:srgbClr val="3C4043"/>
                </a:solidFill>
                <a:latin typeface="Google Sans Text"/>
                <a:ea typeface="Google Sans Text"/>
                <a:cs typeface="Google Sans Text"/>
                <a:sym typeface="Google Sans Text"/>
              </a:rPr>
              <a:t> Mozilla and WebKit positions.</a:t>
            </a:r>
            <a:endParaRPr sz="1350">
              <a:solidFill>
                <a:srgbClr val="3C4043"/>
              </a:solidFill>
              <a:latin typeface="Google Sans Text"/>
              <a:ea typeface="Google Sans Text"/>
              <a:cs typeface="Google Sans Text"/>
              <a:sym typeface="Google Sans Text"/>
            </a:endParaRPr>
          </a:p>
        </p:txBody>
      </p:sp>
      <p:sp>
        <p:nvSpPr>
          <p:cNvPr id="203" name="Google Shape;203;p11"/>
          <p:cNvSpPr/>
          <p:nvPr/>
        </p:nvSpPr>
        <p:spPr>
          <a:xfrm>
            <a:off x="6273800" y="24638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11"/>
          <p:cNvSpPr/>
          <p:nvPr/>
        </p:nvSpPr>
        <p:spPr>
          <a:xfrm>
            <a:off x="6273800" y="24638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11"/>
          <p:cNvSpPr/>
          <p:nvPr/>
        </p:nvSpPr>
        <p:spPr>
          <a:xfrm>
            <a:off x="6477000" y="25654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6">
                  <a:extLst>
                    <a:ext uri="{A12FA001-AC4F-418D-AE19-62706E023703}">
                      <ahyp:hlinkClr val="tx"/>
                    </a:ext>
                  </a:extLst>
                </a:hlinkClick>
              </a:rPr>
              <a:t>#4, #10 Timing.</a:t>
            </a:r>
            <a:r>
              <a:rPr lang="en-US" sz="1350">
                <a:solidFill>
                  <a:srgbClr val="3C4043"/>
                </a:solidFill>
                <a:latin typeface="Google Sans Text"/>
                <a:ea typeface="Google Sans Text"/>
                <a:cs typeface="Google Sans Text"/>
                <a:sym typeface="Google Sans Text"/>
              </a:rPr>
              <a:t> A stated accuracy goal, backed by measurements on desktop and Android.</a:t>
            </a:r>
            <a:endParaRPr sz="1350">
              <a:solidFill>
                <a:srgbClr val="3C4043"/>
              </a:solidFill>
              <a:latin typeface="Google Sans Text"/>
              <a:ea typeface="Google Sans Text"/>
              <a:cs typeface="Google Sans Text"/>
              <a:sym typeface="Google Sans Text"/>
            </a:endParaRPr>
          </a:p>
        </p:txBody>
      </p:sp>
      <p:sp>
        <p:nvSpPr>
          <p:cNvPr id="206" name="Google Shape;206;p11"/>
          <p:cNvSpPr/>
          <p:nvPr/>
        </p:nvSpPr>
        <p:spPr>
          <a:xfrm>
            <a:off x="609600" y="35052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11"/>
          <p:cNvSpPr/>
          <p:nvPr/>
        </p:nvSpPr>
        <p:spPr>
          <a:xfrm>
            <a:off x="609600" y="35052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1"/>
          <p:cNvSpPr/>
          <p:nvPr/>
        </p:nvSpPr>
        <p:spPr>
          <a:xfrm>
            <a:off x="812800" y="36068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7">
                  <a:extLst>
                    <a:ext uri="{A12FA001-AC4F-418D-AE19-62706E023703}">
                      <ahyp:hlinkClr val="tx"/>
                    </a:ext>
                  </a:extLst>
                </a:hlinkClick>
              </a:rPr>
              <a:t>#5 Permission.</a:t>
            </a:r>
            <a:r>
              <a:rPr lang="en-US" sz="1350">
                <a:solidFill>
                  <a:srgbClr val="3C4043"/>
                </a:solidFill>
                <a:latin typeface="Google Sans Text"/>
                <a:ea typeface="Google Sans Text"/>
                <a:cs typeface="Google Sans Text"/>
                <a:sym typeface="Google Sans Text"/>
              </a:rPr>
              <a:t> Prompt wording; Local Network Access and Android’s permission.</a:t>
            </a:r>
            <a:endParaRPr sz="1350">
              <a:solidFill>
                <a:srgbClr val="3C4043"/>
              </a:solidFill>
              <a:latin typeface="Google Sans Text"/>
              <a:ea typeface="Google Sans Text"/>
              <a:cs typeface="Google Sans Text"/>
              <a:sym typeface="Google Sans Text"/>
            </a:endParaRPr>
          </a:p>
        </p:txBody>
      </p:sp>
      <p:sp>
        <p:nvSpPr>
          <p:cNvPr id="209" name="Google Shape;209;p11"/>
          <p:cNvSpPr/>
          <p:nvPr/>
        </p:nvSpPr>
        <p:spPr>
          <a:xfrm>
            <a:off x="6273800" y="35052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1"/>
          <p:cNvSpPr/>
          <p:nvPr/>
        </p:nvSpPr>
        <p:spPr>
          <a:xfrm>
            <a:off x="6273800" y="35052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11"/>
          <p:cNvSpPr/>
          <p:nvPr/>
        </p:nvSpPr>
        <p:spPr>
          <a:xfrm>
            <a:off x="6477000" y="36068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8">
                  <a:extLst>
                    <a:ext uri="{A12FA001-AC4F-418D-AE19-62706E023703}">
                      <ahyp:hlinkClr val="tx"/>
                    </a:ext>
                  </a:extLst>
                </a:hlinkClick>
              </a:rPr>
              <a:t>#6 Protecting a set.</a:t>
            </a:r>
            <a:r>
              <a:rPr lang="en-US" sz="1350">
                <a:solidFill>
                  <a:srgbClr val="3C4043"/>
                </a:solidFill>
                <a:latin typeface="Google Sans Text"/>
                <a:ea typeface="Google Sans Text"/>
                <a:cs typeface="Google Sans Text"/>
                <a:sym typeface="Google Sans Text"/>
              </a:rPr>
              <a:t> An indicator, a follow-only mode, rate limits?</a:t>
            </a:r>
            <a:endParaRPr sz="1350">
              <a:solidFill>
                <a:srgbClr val="3C4043"/>
              </a:solidFill>
              <a:latin typeface="Google Sans Text"/>
              <a:ea typeface="Google Sans Text"/>
              <a:cs typeface="Google Sans Text"/>
              <a:sym typeface="Google Sans Text"/>
            </a:endParaRPr>
          </a:p>
        </p:txBody>
      </p:sp>
      <p:sp>
        <p:nvSpPr>
          <p:cNvPr id="212" name="Google Shape;212;p11"/>
          <p:cNvSpPr/>
          <p:nvPr/>
        </p:nvSpPr>
        <p:spPr>
          <a:xfrm>
            <a:off x="609600" y="45466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11"/>
          <p:cNvSpPr/>
          <p:nvPr/>
        </p:nvSpPr>
        <p:spPr>
          <a:xfrm>
            <a:off x="609600" y="45466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1"/>
          <p:cNvSpPr/>
          <p:nvPr/>
        </p:nvSpPr>
        <p:spPr>
          <a:xfrm>
            <a:off x="812800" y="46482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9">
                  <a:extLst>
                    <a:ext uri="{A12FA001-AC4F-418D-AE19-62706E023703}">
                      <ahyp:hlinkClr val="tx"/>
                    </a:ext>
                  </a:extLst>
                </a:hlinkClick>
              </a:rPr>
              <a:t>#8 Workers.</a:t>
            </a:r>
            <a:r>
              <a:rPr lang="en-US" sz="1350">
                <a:solidFill>
                  <a:srgbClr val="3C4043"/>
                </a:solidFill>
                <a:latin typeface="Google Sans Text"/>
                <a:ea typeface="Google Sans Text"/>
                <a:cs typeface="Google Sans Text"/>
                <a:sym typeface="Google Sans Text"/>
              </a:rPr>
              <a:t> Should a Worker request a session itself?</a:t>
            </a:r>
            <a:endParaRPr sz="1350">
              <a:solidFill>
                <a:srgbClr val="3C4043"/>
              </a:solidFill>
              <a:latin typeface="Google Sans Text"/>
              <a:ea typeface="Google Sans Text"/>
              <a:cs typeface="Google Sans Text"/>
              <a:sym typeface="Google Sans Text"/>
            </a:endParaRPr>
          </a:p>
        </p:txBody>
      </p:sp>
      <p:sp>
        <p:nvSpPr>
          <p:cNvPr id="215" name="Google Shape;215;p11"/>
          <p:cNvSpPr/>
          <p:nvPr/>
        </p:nvSpPr>
        <p:spPr>
          <a:xfrm>
            <a:off x="6273800" y="4546600"/>
            <a:ext cx="5308500" cy="888900"/>
          </a:xfrm>
          <a:prstGeom prst="rect">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1"/>
          <p:cNvSpPr/>
          <p:nvPr/>
        </p:nvSpPr>
        <p:spPr>
          <a:xfrm>
            <a:off x="6273800" y="4546600"/>
            <a:ext cx="63600" cy="888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11"/>
          <p:cNvSpPr/>
          <p:nvPr/>
        </p:nvSpPr>
        <p:spPr>
          <a:xfrm>
            <a:off x="6477000" y="4648200"/>
            <a:ext cx="4953000" cy="685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a:solidFill>
                  <a:srgbClr val="1967D2"/>
                </a:solidFill>
                <a:uFill>
                  <a:noFill/>
                </a:uFill>
                <a:latin typeface="Google Sans"/>
                <a:ea typeface="Google Sans"/>
                <a:cs typeface="Google Sans"/>
                <a:sym typeface="Google Sans"/>
                <a:hlinkClick r:id="rId10">
                  <a:extLst>
                    <a:ext uri="{A12FA001-AC4F-418D-AE19-62706E023703}">
                      <ahyp:hlinkClr val="tx"/>
                    </a:ext>
                  </a:extLst>
                </a:hlinkClick>
              </a:rPr>
              <a:t>#9 quantum.</a:t>
            </a:r>
            <a:r>
              <a:rPr lang="en-US" sz="1350">
                <a:solidFill>
                  <a:srgbClr val="3C4043"/>
                </a:solidFill>
                <a:latin typeface="Google Sans Text"/>
                <a:ea typeface="Google Sans Text"/>
                <a:cs typeface="Google Sans Text"/>
                <a:sym typeface="Google Sans Text"/>
              </a:rPr>
              <a:t> Is Link’s model clear to developers new to it?</a:t>
            </a:r>
            <a:endParaRPr sz="1350">
              <a:solidFill>
                <a:srgbClr val="3C4043"/>
              </a:solidFill>
              <a:latin typeface="Google Sans Text"/>
              <a:ea typeface="Google Sans Text"/>
              <a:cs typeface="Google Sans Text"/>
              <a:sym typeface="Google Sans Text"/>
            </a:endParaRPr>
          </a:p>
        </p:txBody>
      </p:sp>
      <p:sp>
        <p:nvSpPr>
          <p:cNvPr id="218" name="Google Shape;218;p11"/>
          <p:cNvSpPr/>
          <p:nvPr/>
        </p:nvSpPr>
        <p:spPr>
          <a:xfrm>
            <a:off x="609600" y="5638800"/>
            <a:ext cx="10972800" cy="4065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350">
                <a:solidFill>
                  <a:srgbClr val="5F6368"/>
                </a:solidFill>
                <a:latin typeface="Google Sans Text"/>
                <a:ea typeface="Google Sans Text"/>
                <a:cs typeface="Google Sans Text"/>
                <a:sym typeface="Google Sans Text"/>
              </a:rPr>
              <a:t>Numbers are issues on </a:t>
            </a:r>
            <a:r>
              <a:rPr b="1" lang="en-US" sz="1350">
                <a:solidFill>
                  <a:srgbClr val="1967D2"/>
                </a:solidFill>
                <a:uFill>
                  <a:noFill/>
                </a:uFill>
                <a:latin typeface="Roboto Mono"/>
                <a:ea typeface="Roboto Mono"/>
                <a:cs typeface="Roboto Mono"/>
                <a:sym typeface="Roboto Mono"/>
                <a:hlinkClick r:id="rId11">
                  <a:extLst>
                    <a:ext uri="{A12FA001-AC4F-418D-AE19-62706E023703}">
                      <ahyp:hlinkClr val="tx"/>
                    </a:ext>
                  </a:extLst>
                </a:hlinkClick>
              </a:rPr>
              <a:t>github.com/baylesj/web-tempo-sync</a:t>
            </a:r>
            <a:endParaRPr b="1" sz="1350">
              <a:solidFill>
                <a:srgbClr val="1967D2"/>
              </a:solidFill>
              <a:latin typeface="Roboto Mono"/>
              <a:ea typeface="Roboto Mono"/>
              <a:cs typeface="Roboto Mono"/>
              <a:sym typeface="Roboto Mono"/>
            </a:endParaRPr>
          </a:p>
        </p:txBody>
      </p:sp>
      <p:sp>
        <p:nvSpPr>
          <p:cNvPr id="219" name="Google Shape;219;p11"/>
          <p:cNvSpPr/>
          <p:nvPr/>
        </p:nvSpPr>
        <p:spPr>
          <a:xfrm>
            <a:off x="609600" y="6273800"/>
            <a:ext cx="10972800" cy="10200"/>
          </a:xfrm>
          <a:prstGeom prst="rect">
            <a:avLst/>
          </a:prstGeom>
          <a:solidFill>
            <a:srgbClr val="E8E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11"/>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5F6368"/>
                </a:solidFill>
                <a:latin typeface="Google Sans Text"/>
                <a:ea typeface="Google Sans Text"/>
                <a:cs typeface="Google Sans Text"/>
                <a:sym typeface="Google Sans Text"/>
              </a:rPr>
              <a:t>Google Chrome  ·  W3C Audio Community Group  ·  TPAC 2026</a:t>
            </a:r>
            <a:endParaRPr sz="1050">
              <a:solidFill>
                <a:srgbClr val="5F6368"/>
              </a:solidFill>
              <a:latin typeface="Google Sans Text"/>
              <a:ea typeface="Google Sans Text"/>
              <a:cs typeface="Google Sans Text"/>
              <a:sym typeface="Google Sans Text"/>
            </a:endParaRPr>
          </a:p>
        </p:txBody>
      </p:sp>
      <p:sp>
        <p:nvSpPr>
          <p:cNvPr id="221" name="Google Shape;221;p11"/>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202124"/>
                </a:solidFill>
                <a:latin typeface="Google Sans"/>
                <a:ea typeface="Google Sans"/>
                <a:cs typeface="Google Sans"/>
                <a:sym typeface="Google Sans"/>
              </a:rPr>
              <a:t>09</a:t>
            </a:r>
            <a:endParaRPr b="1" sz="1050">
              <a:solidFill>
                <a:srgbClr val="202124"/>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124"/>
        </a:solidFill>
      </p:bgPr>
    </p:bg>
    <p:spTree>
      <p:nvGrpSpPr>
        <p:cNvPr id="226" name="Shape 226"/>
        <p:cNvGrpSpPr/>
        <p:nvPr/>
      </p:nvGrpSpPr>
      <p:grpSpPr>
        <a:xfrm>
          <a:off x="0" y="0"/>
          <a:ext cx="0" cy="0"/>
          <a:chOff x="0" y="0"/>
          <a:chExt cx="0" cy="0"/>
        </a:xfrm>
      </p:grpSpPr>
      <p:sp>
        <p:nvSpPr>
          <p:cNvPr id="227" name="Google Shape;227;p12"/>
          <p:cNvSpPr/>
          <p:nvPr/>
        </p:nvSpPr>
        <p:spPr>
          <a:xfrm>
            <a:off x="0" y="0"/>
            <a:ext cx="3054300" cy="101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12"/>
          <p:cNvSpPr/>
          <p:nvPr/>
        </p:nvSpPr>
        <p:spPr>
          <a:xfrm>
            <a:off x="3048000" y="0"/>
            <a:ext cx="3054300" cy="1017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12"/>
          <p:cNvSpPr/>
          <p:nvPr/>
        </p:nvSpPr>
        <p:spPr>
          <a:xfrm>
            <a:off x="6096000" y="0"/>
            <a:ext cx="3054300" cy="1017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12"/>
          <p:cNvSpPr/>
          <p:nvPr/>
        </p:nvSpPr>
        <p:spPr>
          <a:xfrm>
            <a:off x="9144000" y="0"/>
            <a:ext cx="3048000" cy="101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2"/>
          <p:cNvSpPr/>
          <p:nvPr/>
        </p:nvSpPr>
        <p:spPr>
          <a:xfrm>
            <a:off x="0" y="0"/>
            <a:ext cx="3054300" cy="76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12"/>
          <p:cNvSpPr/>
          <p:nvPr/>
        </p:nvSpPr>
        <p:spPr>
          <a:xfrm>
            <a:off x="3048000" y="0"/>
            <a:ext cx="3054300" cy="76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12"/>
          <p:cNvSpPr/>
          <p:nvPr/>
        </p:nvSpPr>
        <p:spPr>
          <a:xfrm>
            <a:off x="6096000" y="0"/>
            <a:ext cx="3054300" cy="762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12"/>
          <p:cNvSpPr/>
          <p:nvPr/>
        </p:nvSpPr>
        <p:spPr>
          <a:xfrm>
            <a:off x="9144000" y="0"/>
            <a:ext cx="3048000" cy="76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12"/>
          <p:cNvSpPr/>
          <p:nvPr/>
        </p:nvSpPr>
        <p:spPr>
          <a:xfrm>
            <a:off x="609600" y="330200"/>
            <a:ext cx="10972800" cy="279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100">
                <a:solidFill>
                  <a:srgbClr val="8AB4F8"/>
                </a:solidFill>
                <a:latin typeface="Google Sans"/>
                <a:ea typeface="Google Sans"/>
                <a:cs typeface="Google Sans"/>
                <a:sym typeface="Google Sans"/>
              </a:rPr>
              <a:t>09  ·  CALL TO ACTION</a:t>
            </a:r>
            <a:endParaRPr b="1" sz="1100">
              <a:solidFill>
                <a:srgbClr val="8AB4F8"/>
              </a:solidFill>
              <a:latin typeface="Google Sans"/>
              <a:ea typeface="Google Sans"/>
              <a:cs typeface="Google Sans"/>
              <a:sym typeface="Google Sans"/>
            </a:endParaRPr>
          </a:p>
        </p:txBody>
      </p:sp>
      <p:sp>
        <p:nvSpPr>
          <p:cNvPr id="236" name="Google Shape;236;p12"/>
          <p:cNvSpPr/>
          <p:nvPr/>
        </p:nvSpPr>
        <p:spPr>
          <a:xfrm>
            <a:off x="609600" y="635000"/>
            <a:ext cx="109728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3400">
                <a:solidFill>
                  <a:srgbClr val="FFFFFF"/>
                </a:solidFill>
                <a:latin typeface="Google Sans"/>
                <a:ea typeface="Google Sans"/>
                <a:cs typeface="Google Sans"/>
                <a:sym typeface="Google Sans"/>
              </a:rPr>
              <a:t>What I’m asking the group</a:t>
            </a:r>
            <a:endParaRPr b="1" sz="3400">
              <a:solidFill>
                <a:srgbClr val="FFFFFF"/>
              </a:solidFill>
              <a:latin typeface="Google Sans"/>
              <a:ea typeface="Google Sans"/>
              <a:cs typeface="Google Sans"/>
              <a:sym typeface="Google Sans"/>
            </a:endParaRPr>
          </a:p>
        </p:txBody>
      </p:sp>
      <p:sp>
        <p:nvSpPr>
          <p:cNvPr id="237" name="Google Shape;237;p12"/>
          <p:cNvSpPr/>
          <p:nvPr/>
        </p:nvSpPr>
        <p:spPr>
          <a:xfrm>
            <a:off x="609600" y="1498600"/>
            <a:ext cx="10972800" cy="838200"/>
          </a:xfrm>
          <a:prstGeom prst="rect">
            <a:avLst/>
          </a:prstGeom>
          <a:solidFill>
            <a:srgbClr val="2D2E30"/>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12"/>
          <p:cNvSpPr/>
          <p:nvPr/>
        </p:nvSpPr>
        <p:spPr>
          <a:xfrm>
            <a:off x="609600" y="1498600"/>
            <a:ext cx="76200" cy="8382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12"/>
          <p:cNvSpPr/>
          <p:nvPr/>
        </p:nvSpPr>
        <p:spPr>
          <a:xfrm>
            <a:off x="812800" y="1600200"/>
            <a:ext cx="105663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800">
                <a:solidFill>
                  <a:srgbClr val="8AB4F8"/>
                </a:solidFill>
                <a:latin typeface="Roboto Mono"/>
                <a:ea typeface="Roboto Mono"/>
                <a:cs typeface="Roboto Mono"/>
                <a:sym typeface="Roboto Mono"/>
              </a:rPr>
              <a:t>  01   </a:t>
            </a:r>
            <a:r>
              <a:rPr b="1" lang="en-US" sz="1900">
                <a:solidFill>
                  <a:srgbClr val="FFFFFF"/>
                </a:solidFill>
                <a:latin typeface="Google Sans"/>
                <a:ea typeface="Google Sans"/>
                <a:cs typeface="Google Sans"/>
                <a:sym typeface="Google Sans"/>
              </a:rPr>
              <a:t>Is this in scope for the Audio CG, and would the group take it on?</a:t>
            </a:r>
            <a:endParaRPr b="1" sz="1900">
              <a:solidFill>
                <a:srgbClr val="FFFFFF"/>
              </a:solidFill>
              <a:latin typeface="Google Sans"/>
              <a:ea typeface="Google Sans"/>
              <a:cs typeface="Google Sans"/>
              <a:sym typeface="Google Sans"/>
            </a:endParaRPr>
          </a:p>
        </p:txBody>
      </p:sp>
      <p:sp>
        <p:nvSpPr>
          <p:cNvPr id="240" name="Google Shape;240;p12"/>
          <p:cNvSpPr/>
          <p:nvPr/>
        </p:nvSpPr>
        <p:spPr>
          <a:xfrm>
            <a:off x="609600" y="2514600"/>
            <a:ext cx="10972800" cy="838200"/>
          </a:xfrm>
          <a:prstGeom prst="rect">
            <a:avLst/>
          </a:prstGeom>
          <a:solidFill>
            <a:srgbClr val="2D2E30"/>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12"/>
          <p:cNvSpPr/>
          <p:nvPr/>
        </p:nvSpPr>
        <p:spPr>
          <a:xfrm>
            <a:off x="609600" y="2514600"/>
            <a:ext cx="76200" cy="838200"/>
          </a:xfrm>
          <a:prstGeom prst="rect">
            <a:avLst/>
          </a:prstGeom>
          <a:solidFill>
            <a:srgbClr val="EA4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2"/>
          <p:cNvSpPr/>
          <p:nvPr/>
        </p:nvSpPr>
        <p:spPr>
          <a:xfrm>
            <a:off x="812800" y="2616200"/>
            <a:ext cx="105663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800">
                <a:solidFill>
                  <a:srgbClr val="F28B82"/>
                </a:solidFill>
                <a:latin typeface="Roboto Mono"/>
                <a:ea typeface="Roboto Mono"/>
                <a:cs typeface="Roboto Mono"/>
                <a:sym typeface="Roboto Mono"/>
              </a:rPr>
              <a:t>  02   </a:t>
            </a:r>
            <a:r>
              <a:rPr b="1" lang="en-US" sz="1900">
                <a:solidFill>
                  <a:srgbClr val="FFFFFF"/>
                </a:solidFill>
                <a:latin typeface="Google Sans"/>
                <a:ea typeface="Google Sans"/>
                <a:cs typeface="Google Sans"/>
                <a:sym typeface="Google Sans"/>
              </a:rPr>
              <a:t>Would you use it? Say so on </a:t>
            </a:r>
            <a:r>
              <a:rPr b="1" lang="en-US" sz="1900" u="sng">
                <a:solidFill>
                  <a:srgbClr val="8AB4F8"/>
                </a:solidFill>
                <a:latin typeface="Google Sans"/>
                <a:ea typeface="Google Sans"/>
                <a:cs typeface="Google Sans"/>
                <a:sym typeface="Google Sans"/>
                <a:hlinkClick r:id="rId3">
                  <a:extLst>
                    <a:ext uri="{A12FA001-AC4F-418D-AE19-62706E023703}">
                      <ahyp:hlinkClr val="tx"/>
                    </a:ext>
                  </a:extLst>
                </a:hlinkClick>
              </a:rPr>
              <a:t>issue #1</a:t>
            </a:r>
            <a:r>
              <a:rPr b="1" lang="en-US" sz="1900">
                <a:solidFill>
                  <a:srgbClr val="FFFFFF"/>
                </a:solidFill>
                <a:latin typeface="Google Sans"/>
                <a:ea typeface="Google Sans"/>
                <a:cs typeface="Google Sans"/>
                <a:sym typeface="Google Sans"/>
              </a:rPr>
              <a:t>.</a:t>
            </a:r>
            <a:endParaRPr b="1" sz="1900">
              <a:solidFill>
                <a:srgbClr val="FFFFFF"/>
              </a:solidFill>
              <a:latin typeface="Google Sans"/>
              <a:ea typeface="Google Sans"/>
              <a:cs typeface="Google Sans"/>
              <a:sym typeface="Google Sans"/>
            </a:endParaRPr>
          </a:p>
        </p:txBody>
      </p:sp>
      <p:sp>
        <p:nvSpPr>
          <p:cNvPr id="243" name="Google Shape;243;p12"/>
          <p:cNvSpPr/>
          <p:nvPr/>
        </p:nvSpPr>
        <p:spPr>
          <a:xfrm>
            <a:off x="609600" y="3530600"/>
            <a:ext cx="10972800" cy="838200"/>
          </a:xfrm>
          <a:prstGeom prst="rect">
            <a:avLst/>
          </a:prstGeom>
          <a:solidFill>
            <a:srgbClr val="2D2E30"/>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12"/>
          <p:cNvSpPr/>
          <p:nvPr/>
        </p:nvSpPr>
        <p:spPr>
          <a:xfrm>
            <a:off x="609600" y="3530600"/>
            <a:ext cx="76200" cy="8382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2"/>
          <p:cNvSpPr/>
          <p:nvPr/>
        </p:nvSpPr>
        <p:spPr>
          <a:xfrm>
            <a:off x="812800" y="3632200"/>
            <a:ext cx="10566300" cy="635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b="1" lang="en-US" sz="1800">
                <a:solidFill>
                  <a:srgbClr val="81C995"/>
                </a:solidFill>
                <a:latin typeface="Roboto Mono"/>
                <a:ea typeface="Roboto Mono"/>
                <a:cs typeface="Roboto Mono"/>
                <a:sym typeface="Roboto Mono"/>
              </a:rPr>
              <a:t>  03   </a:t>
            </a:r>
            <a:r>
              <a:rPr b="1" lang="en-US" sz="1900">
                <a:solidFill>
                  <a:srgbClr val="FFFFFF"/>
                </a:solidFill>
                <a:latin typeface="Google Sans"/>
                <a:ea typeface="Google Sans"/>
                <a:cs typeface="Google Sans"/>
                <a:sym typeface="Google Sans"/>
              </a:rPr>
              <a:t>Weigh in on the open questions, or try the demo and file what breaks.</a:t>
            </a:r>
            <a:endParaRPr b="1" sz="1900">
              <a:solidFill>
                <a:srgbClr val="FFFFFF"/>
              </a:solidFill>
              <a:latin typeface="Google Sans"/>
              <a:ea typeface="Google Sans"/>
              <a:cs typeface="Google Sans"/>
              <a:sym typeface="Google Sans"/>
            </a:endParaRPr>
          </a:p>
        </p:txBody>
      </p:sp>
      <p:sp>
        <p:nvSpPr>
          <p:cNvPr id="246" name="Google Shape;246;p12"/>
          <p:cNvSpPr/>
          <p:nvPr/>
        </p:nvSpPr>
        <p:spPr>
          <a:xfrm>
            <a:off x="609600" y="4724400"/>
            <a:ext cx="3479700" cy="1219200"/>
          </a:xfrm>
          <a:prstGeom prst="rect">
            <a:avLst/>
          </a:prstGeom>
          <a:solidFill>
            <a:srgbClr val="17181B"/>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2"/>
          <p:cNvSpPr/>
          <p:nvPr/>
        </p:nvSpPr>
        <p:spPr>
          <a:xfrm>
            <a:off x="609600" y="4724400"/>
            <a:ext cx="3479700" cy="507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2"/>
          <p:cNvSpPr/>
          <p:nvPr/>
        </p:nvSpPr>
        <p:spPr>
          <a:xfrm>
            <a:off x="736600" y="4927600"/>
            <a:ext cx="3225900" cy="863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rPr b="1" lang="en-US" sz="1000">
                <a:solidFill>
                  <a:srgbClr val="9AA0A6"/>
                </a:solidFill>
                <a:latin typeface="Google Sans"/>
                <a:ea typeface="Google Sans"/>
                <a:cs typeface="Google Sans"/>
                <a:sym typeface="Google Sans"/>
              </a:rPr>
              <a:t>LIVE DEMO &amp; EXTENSION</a:t>
            </a:r>
            <a:endParaRPr b="1" sz="1000">
              <a:solidFill>
                <a:srgbClr val="9AA0A6"/>
              </a:solidFill>
              <a:latin typeface="Google Sans"/>
              <a:ea typeface="Google Sans"/>
              <a:cs typeface="Google Sans"/>
              <a:sym typeface="Google Sans"/>
            </a:endParaRPr>
          </a:p>
          <a:p>
            <a:pPr indent="0" lvl="0" marL="0" rtl="0" algn="l">
              <a:lnSpc>
                <a:spcPct val="145000"/>
              </a:lnSpc>
              <a:spcBef>
                <a:spcPts val="0"/>
              </a:spcBef>
              <a:spcAft>
                <a:spcPts val="0"/>
              </a:spcAft>
              <a:buNone/>
            </a:pPr>
            <a:r>
              <a:rPr b="1" lang="en-US" sz="1000">
                <a:solidFill>
                  <a:srgbClr val="8AB4F8"/>
                </a:solidFill>
                <a:uFill>
                  <a:noFill/>
                </a:uFill>
                <a:latin typeface="Roboto Mono"/>
                <a:ea typeface="Roboto Mono"/>
                <a:cs typeface="Roboto Mono"/>
                <a:sym typeface="Roboto Mono"/>
                <a:hlinkClick r:id="rId4">
                  <a:extLst>
                    <a:ext uri="{A12FA001-AC4F-418D-AE19-62706E023703}">
                      <ahyp:hlinkClr val="tx"/>
                    </a:ext>
                  </a:extLst>
                </a:hlinkClick>
              </a:rPr>
              <a:t>baylesj.github.io/web-tempo-sync-demo</a:t>
            </a:r>
            <a:endParaRPr b="1" sz="1000">
              <a:solidFill>
                <a:srgbClr val="8AB4F8"/>
              </a:solidFill>
              <a:latin typeface="Roboto Mono"/>
              <a:ea typeface="Roboto Mono"/>
              <a:cs typeface="Roboto Mono"/>
              <a:sym typeface="Roboto Mono"/>
            </a:endParaRPr>
          </a:p>
        </p:txBody>
      </p:sp>
      <p:sp>
        <p:nvSpPr>
          <p:cNvPr id="249" name="Google Shape;249;p12"/>
          <p:cNvSpPr/>
          <p:nvPr/>
        </p:nvSpPr>
        <p:spPr>
          <a:xfrm>
            <a:off x="4356100" y="4724400"/>
            <a:ext cx="3479700" cy="1219200"/>
          </a:xfrm>
          <a:prstGeom prst="rect">
            <a:avLst/>
          </a:prstGeom>
          <a:solidFill>
            <a:srgbClr val="17181B"/>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12"/>
          <p:cNvSpPr/>
          <p:nvPr/>
        </p:nvSpPr>
        <p:spPr>
          <a:xfrm>
            <a:off x="4356100" y="4724400"/>
            <a:ext cx="3479700" cy="50700"/>
          </a:xfrm>
          <a:prstGeom prst="rect">
            <a:avLst/>
          </a:prstGeom>
          <a:solidFill>
            <a:srgbClr val="FBBC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12"/>
          <p:cNvSpPr/>
          <p:nvPr/>
        </p:nvSpPr>
        <p:spPr>
          <a:xfrm>
            <a:off x="4483100" y="4927600"/>
            <a:ext cx="3225900" cy="863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rPr b="1" lang="en-US" sz="1000">
                <a:solidFill>
                  <a:srgbClr val="9AA0A6"/>
                </a:solidFill>
                <a:latin typeface="Google Sans"/>
                <a:ea typeface="Google Sans"/>
                <a:cs typeface="Google Sans"/>
                <a:sym typeface="Google Sans"/>
              </a:rPr>
              <a:t>DRAFT SPECIFICATION</a:t>
            </a:r>
            <a:endParaRPr b="1" sz="1000">
              <a:solidFill>
                <a:srgbClr val="9AA0A6"/>
              </a:solidFill>
              <a:latin typeface="Google Sans"/>
              <a:ea typeface="Google Sans"/>
              <a:cs typeface="Google Sans"/>
              <a:sym typeface="Google Sans"/>
            </a:endParaRPr>
          </a:p>
          <a:p>
            <a:pPr indent="0" lvl="0" marL="0" rtl="0" algn="l">
              <a:lnSpc>
                <a:spcPct val="145000"/>
              </a:lnSpc>
              <a:spcBef>
                <a:spcPts val="0"/>
              </a:spcBef>
              <a:spcAft>
                <a:spcPts val="0"/>
              </a:spcAft>
              <a:buNone/>
            </a:pPr>
            <a:r>
              <a:rPr b="1" lang="en-US" sz="1000">
                <a:solidFill>
                  <a:srgbClr val="8AB4F8"/>
                </a:solidFill>
                <a:uFill>
                  <a:noFill/>
                </a:uFill>
                <a:latin typeface="Roboto Mono"/>
                <a:ea typeface="Roboto Mono"/>
                <a:cs typeface="Roboto Mono"/>
                <a:sym typeface="Roboto Mono"/>
                <a:hlinkClick r:id="rId5">
                  <a:extLst>
                    <a:ext uri="{A12FA001-AC4F-418D-AE19-62706E023703}">
                      <ahyp:hlinkClr val="tx"/>
                    </a:ext>
                  </a:extLst>
                </a:hlinkClick>
              </a:rPr>
              <a:t>baylesj.github.io/web-tempo-sync</a:t>
            </a:r>
            <a:endParaRPr b="1" sz="1000">
              <a:solidFill>
                <a:srgbClr val="8AB4F8"/>
              </a:solidFill>
              <a:latin typeface="Roboto Mono"/>
              <a:ea typeface="Roboto Mono"/>
              <a:cs typeface="Roboto Mono"/>
              <a:sym typeface="Roboto Mono"/>
            </a:endParaRPr>
          </a:p>
        </p:txBody>
      </p:sp>
      <p:sp>
        <p:nvSpPr>
          <p:cNvPr id="252" name="Google Shape;252;p12"/>
          <p:cNvSpPr/>
          <p:nvPr/>
        </p:nvSpPr>
        <p:spPr>
          <a:xfrm>
            <a:off x="8102600" y="4724400"/>
            <a:ext cx="3479700" cy="1219200"/>
          </a:xfrm>
          <a:prstGeom prst="rect">
            <a:avLst/>
          </a:prstGeom>
          <a:solidFill>
            <a:srgbClr val="17181B"/>
          </a:solidFill>
          <a:ln cap="flat" cmpd="sng" w="12700">
            <a:solidFill>
              <a:srgbClr val="3C40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2"/>
          <p:cNvSpPr/>
          <p:nvPr/>
        </p:nvSpPr>
        <p:spPr>
          <a:xfrm>
            <a:off x="8102600" y="4724400"/>
            <a:ext cx="3479700" cy="50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2"/>
          <p:cNvSpPr/>
          <p:nvPr/>
        </p:nvSpPr>
        <p:spPr>
          <a:xfrm>
            <a:off x="8229600" y="4927600"/>
            <a:ext cx="3225900" cy="863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rPr b="1" lang="en-US" sz="1000">
                <a:solidFill>
                  <a:srgbClr val="9AA0A6"/>
                </a:solidFill>
                <a:latin typeface="Google Sans"/>
                <a:ea typeface="Google Sans"/>
                <a:cs typeface="Google Sans"/>
                <a:sym typeface="Google Sans"/>
              </a:rPr>
              <a:t>OPEN ISSUES &amp; FEEDBACK</a:t>
            </a:r>
            <a:endParaRPr b="1" sz="1000">
              <a:solidFill>
                <a:srgbClr val="9AA0A6"/>
              </a:solidFill>
              <a:latin typeface="Google Sans"/>
              <a:ea typeface="Google Sans"/>
              <a:cs typeface="Google Sans"/>
              <a:sym typeface="Google Sans"/>
            </a:endParaRPr>
          </a:p>
          <a:p>
            <a:pPr indent="0" lvl="0" marL="0" rtl="0" algn="l">
              <a:lnSpc>
                <a:spcPct val="145000"/>
              </a:lnSpc>
              <a:spcBef>
                <a:spcPts val="0"/>
              </a:spcBef>
              <a:spcAft>
                <a:spcPts val="0"/>
              </a:spcAft>
              <a:buNone/>
            </a:pPr>
            <a:r>
              <a:rPr b="1" lang="en-US" sz="1000">
                <a:solidFill>
                  <a:srgbClr val="8AB4F8"/>
                </a:solidFill>
                <a:uFill>
                  <a:noFill/>
                </a:uFill>
                <a:latin typeface="Roboto Mono"/>
                <a:ea typeface="Roboto Mono"/>
                <a:cs typeface="Roboto Mono"/>
                <a:sym typeface="Roboto Mono"/>
                <a:hlinkClick r:id="rId6">
                  <a:extLst>
                    <a:ext uri="{A12FA001-AC4F-418D-AE19-62706E023703}">
                      <ahyp:hlinkClr val="tx"/>
                    </a:ext>
                  </a:extLst>
                </a:hlinkClick>
              </a:rPr>
              <a:t>github.com/baylesj/web-tempo-sync/issues</a:t>
            </a:r>
            <a:endParaRPr b="1" sz="1000">
              <a:solidFill>
                <a:srgbClr val="8AB4F8"/>
              </a:solidFill>
              <a:latin typeface="Roboto Mono"/>
              <a:ea typeface="Roboto Mono"/>
              <a:cs typeface="Roboto Mono"/>
              <a:sym typeface="Roboto Mono"/>
            </a:endParaRPr>
          </a:p>
        </p:txBody>
      </p:sp>
      <p:sp>
        <p:nvSpPr>
          <p:cNvPr id="255" name="Google Shape;255;p12"/>
          <p:cNvSpPr/>
          <p:nvPr/>
        </p:nvSpPr>
        <p:spPr>
          <a:xfrm>
            <a:off x="609600" y="6273800"/>
            <a:ext cx="10972800" cy="10200"/>
          </a:xfrm>
          <a:prstGeom prst="rect">
            <a:avLst/>
          </a:prstGeom>
          <a:solidFill>
            <a:srgbClr val="3C40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2"/>
          <p:cNvSpPr/>
          <p:nvPr/>
        </p:nvSpPr>
        <p:spPr>
          <a:xfrm>
            <a:off x="609600" y="6350000"/>
            <a:ext cx="6603900" cy="3048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US" sz="1050">
                <a:solidFill>
                  <a:srgbClr val="9AA0A6"/>
                </a:solidFill>
                <a:latin typeface="Google Sans Text"/>
                <a:ea typeface="Google Sans Text"/>
                <a:cs typeface="Google Sans Text"/>
                <a:sym typeface="Google Sans Text"/>
              </a:rPr>
              <a:t>Google Chrome  ·  W3C Audio Community Group  ·  TPAC 2026</a:t>
            </a:r>
            <a:endParaRPr sz="1050">
              <a:solidFill>
                <a:srgbClr val="9AA0A6"/>
              </a:solidFill>
              <a:latin typeface="Google Sans Text"/>
              <a:ea typeface="Google Sans Text"/>
              <a:cs typeface="Google Sans Text"/>
              <a:sym typeface="Google Sans Text"/>
            </a:endParaRPr>
          </a:p>
        </p:txBody>
      </p:sp>
      <p:sp>
        <p:nvSpPr>
          <p:cNvPr id="257" name="Google Shape;257;p12"/>
          <p:cNvSpPr/>
          <p:nvPr/>
        </p:nvSpPr>
        <p:spPr>
          <a:xfrm>
            <a:off x="10566400" y="6350000"/>
            <a:ext cx="1016100" cy="304800"/>
          </a:xfrm>
          <a:prstGeom prst="rect">
            <a:avLst/>
          </a:prstGeom>
          <a:noFill/>
          <a:ln>
            <a:noFill/>
          </a:ln>
        </p:spPr>
        <p:txBody>
          <a:bodyPr anchorCtr="0" anchor="ctr" bIns="91425" lIns="91425" spcFirstLastPara="1" rIns="91425" wrap="square" tIns="91425">
            <a:noAutofit/>
          </a:bodyPr>
          <a:lstStyle/>
          <a:p>
            <a:pPr indent="0" lvl="0" marL="0" rtl="0" algn="r">
              <a:lnSpc>
                <a:spcPct val="125000"/>
              </a:lnSpc>
              <a:spcBef>
                <a:spcPts val="0"/>
              </a:spcBef>
              <a:spcAft>
                <a:spcPts val="0"/>
              </a:spcAft>
              <a:buNone/>
            </a:pPr>
            <a:r>
              <a:rPr b="1" lang="en-US" sz="1050">
                <a:solidFill>
                  <a:srgbClr val="E8EAED"/>
                </a:solidFill>
                <a:latin typeface="Google Sans"/>
                <a:ea typeface="Google Sans"/>
                <a:cs typeface="Google Sans"/>
                <a:sym typeface="Google Sans"/>
              </a:rPr>
              <a:t>10</a:t>
            </a:r>
            <a:endParaRPr b="1" sz="1050">
              <a:solidFill>
                <a:srgbClr val="E8EAED"/>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